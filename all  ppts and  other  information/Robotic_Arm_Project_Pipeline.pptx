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4114800"/>
            <a:ext cx="457200" cy="457200"/>
          </a:xfrm>
          <a:prstGeom prst="ellipse">
            <a:avLst/>
          </a:prstGeom>
          <a:solidFill>
            <a:srgbClr val="3A4694"/>
          </a:solidFill>
          <a:ln w="12700">
            <a:solidFill>
              <a:srgbClr val="8B98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4114800"/>
            <a:ext cx="457200" cy="457200"/>
          </a:xfrm>
          <a:prstGeom prst="ellipse">
            <a:avLst/>
          </a:prstGeom>
          <a:solidFill>
            <a:srgbClr val="3A4694"/>
          </a:solidFill>
          <a:ln w="12700">
            <a:solidFill>
              <a:srgbClr val="8B98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3611880"/>
            <a:ext cx="2651760" cy="685800"/>
          </a:xfrm>
          <a:prstGeom prst="roundRect">
            <a:avLst>
              <a:gd name="adj" fmla="val 10667"/>
            </a:avLst>
          </a:prstGeom>
          <a:solidFill>
            <a:srgbClr val="2A3373"/>
          </a:solidFill>
          <a:ln w="12700">
            <a:solidFill>
              <a:srgbClr val="8B98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32520" y="2377440"/>
            <a:ext cx="274320" cy="1280160"/>
          </a:xfrm>
          <a:prstGeom prst="roundRect">
            <a:avLst/>
          </a:prstGeom>
          <a:solidFill>
            <a:srgbClr val="8B98D6"/>
          </a:solidFill>
          <a:ln/>
        </p:spPr>
      </p:sp>
      <p:sp>
        <p:nvSpPr>
          <p:cNvPr id="6" name="Shape 4"/>
          <p:cNvSpPr/>
          <p:nvPr/>
        </p:nvSpPr>
        <p:spPr>
          <a:xfrm>
            <a:off x="8869680" y="2423160"/>
            <a:ext cx="1188720" cy="-914400"/>
          </a:xfrm>
          <a:prstGeom prst="line">
            <a:avLst/>
          </a:prstGeom>
          <a:noFill/>
          <a:ln w="63500">
            <a:solidFill>
              <a:srgbClr val="F2A65A"/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0058400" y="1508760"/>
            <a:ext cx="914400" cy="502920"/>
          </a:xfrm>
          <a:prstGeom prst="line">
            <a:avLst/>
          </a:prstGeom>
          <a:noFill/>
          <a:ln w="63500">
            <a:solidFill>
              <a:srgbClr val="F2A6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35640" y="1874520"/>
            <a:ext cx="256032" cy="256032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9" name="Shape 7"/>
          <p:cNvSpPr/>
          <p:nvPr/>
        </p:nvSpPr>
        <p:spPr>
          <a:xfrm>
            <a:off x="8823960" y="2240280"/>
            <a:ext cx="164592" cy="164592"/>
          </a:xfrm>
          <a:prstGeom prst="ellipse">
            <a:avLst/>
          </a:prstGeom>
          <a:solidFill>
            <a:srgbClr val="5BE7C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B9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PIPELINE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331720"/>
            <a:ext cx="7589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Progressive Development of an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Omnidirectional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Robotic Arm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4805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Manual Robotic Manipulation to Autonomous Pick-and-Place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5212080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521208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· Fixed Arm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54680" y="5212080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154680" y="521208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· Mobile Arm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0" y="5212080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669280" y="521208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· Autonomous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Vision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6-DOF robotic arm mounted on an omnidirectional mobile chassis that gradually evolves from a manually controlled manipulation system into a fully autonomous pick-and-place robot.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48640" y="4160520"/>
            <a:ext cx="5120640" cy="1737360"/>
          </a:xfrm>
          <a:prstGeom prst="roundRect">
            <a:avLst>
              <a:gd name="adj" fmla="val 5263"/>
            </a:avLst>
          </a:prstGeom>
          <a:solidFill>
            <a:srgbClr val="F4F6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443484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builds on the one before it.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stage assumes capabilities from a later stage.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09360" y="10515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EAF0FE"/>
          </a:solidFill>
          <a:ln w="12700">
            <a:solidFill>
              <a:srgbClr val="2E6B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37960" y="1531620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E6B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15316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178040" y="125272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Robotic Arm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178040" y="173736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Pick &amp; Place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846820" y="24688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09360" y="278892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E7F8F1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37960" y="3268980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E9F6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37960" y="32689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178040" y="299008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Omnidirectional Arm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178040" y="347472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Navigation + Manipulation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846820" y="42062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309360" y="452628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DECE3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37960" y="5006340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E8590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37960" y="50063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178040" y="472744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Mobile Manipulator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521208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+ ROS 2 + SLAM + Navigation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Vision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Omnidirectional Robotic Arm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EAF0F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 Robotic Arm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2024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validate the 6-DOF robotic arm as a stationary manipulator before introducing mobility or complex autonomy.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432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06324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camera observes/detects LEGO pieces while the arm is controlled manually. The focus is NOT autonomous decision-making.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023360"/>
            <a:ext cx="5394960" cy="1005840"/>
          </a:xfrm>
          <a:prstGeom prst="roundRect">
            <a:avLst>
              <a:gd name="adj" fmla="val 9091"/>
            </a:avLst>
          </a:prstGeom>
          <a:solidFill>
            <a:srgbClr val="EAF0F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4160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Task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4348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pick a LEGO/object and place it at a new location using manual control.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160020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(Hardware)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1938528"/>
            <a:ext cx="5349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6-DOF robotic arm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servo motors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driver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ESP32-CAM / camera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 gripper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base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434340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Areas for Testing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4709160"/>
            <a:ext cx="5349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6-DOF movement &amp; servo control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positioning accuracy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Gripper open/close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picking &amp; placement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Fixed Robotic Arm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Omnidirectional Robotic Arm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EAF0F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 Criteria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498598" cy="1005840"/>
          </a:xfrm>
          <a:prstGeom prst="roundRect">
            <a:avLst>
              <a:gd name="adj" fmla="val 7273"/>
            </a:avLst>
          </a:prstGeom>
          <a:solidFill>
            <a:srgbClr val="EAF0FE"/>
          </a:solidFill>
          <a:ln w="12700">
            <a:solidFill>
              <a:srgbClr val="2E6B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737360"/>
            <a:ext cx="24071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047238" y="1737360"/>
            <a:ext cx="256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03270" y="1737360"/>
            <a:ext cx="2498598" cy="1005840"/>
          </a:xfrm>
          <a:prstGeom prst="roundRect">
            <a:avLst>
              <a:gd name="adj" fmla="val 7273"/>
            </a:avLst>
          </a:prstGeom>
          <a:solidFill>
            <a:srgbClr val="EAF0FE"/>
          </a:solidFill>
          <a:ln w="12700">
            <a:solidFill>
              <a:srgbClr val="2E6B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48990" y="1737360"/>
            <a:ext cx="24071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Arm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801868" y="1737360"/>
            <a:ext cx="256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57900" y="1737360"/>
            <a:ext cx="2498598" cy="1005840"/>
          </a:xfrm>
          <a:prstGeom prst="roundRect">
            <a:avLst>
              <a:gd name="adj" fmla="val 7273"/>
            </a:avLst>
          </a:prstGeom>
          <a:solidFill>
            <a:srgbClr val="EAF0FE"/>
          </a:solidFill>
          <a:ln w="12700">
            <a:solidFill>
              <a:srgbClr val="2E6BE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03620" y="1737360"/>
            <a:ext cx="24071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Moves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Object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556498" y="1737360"/>
            <a:ext cx="256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812530" y="1737360"/>
            <a:ext cx="2498598" cy="1005840"/>
          </a:xfrm>
          <a:prstGeom prst="roundRect">
            <a:avLst>
              <a:gd name="adj" fmla="val 7273"/>
            </a:avLst>
          </a:prstGeom>
          <a:solidFill>
            <a:srgbClr val="EAF0FE"/>
          </a:solidFill>
          <a:ln w="12700">
            <a:solidFill>
              <a:srgbClr val="2E6B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858250" y="1737360"/>
            <a:ext cx="24071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Gripper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957316" y="2788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3200400"/>
            <a:ext cx="2498598" cy="1005840"/>
          </a:xfrm>
          <a:prstGeom prst="roundRect">
            <a:avLst>
              <a:gd name="adj" fmla="val 7273"/>
            </a:avLst>
          </a:prstGeom>
          <a:solidFill>
            <a:srgbClr val="EAF0FE"/>
          </a:solidFill>
          <a:ln w="12700">
            <a:solidFill>
              <a:srgbClr val="2E6BE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3200400"/>
            <a:ext cx="24071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Picked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3047238" y="3200400"/>
            <a:ext cx="256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303270" y="3200400"/>
            <a:ext cx="2498598" cy="1005840"/>
          </a:xfrm>
          <a:prstGeom prst="roundRect">
            <a:avLst>
              <a:gd name="adj" fmla="val 7273"/>
            </a:avLst>
          </a:prstGeom>
          <a:solidFill>
            <a:srgbClr val="EAF0FE"/>
          </a:solidFill>
          <a:ln w="12700">
            <a:solidFill>
              <a:srgbClr val="2E6BE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348990" y="3200400"/>
            <a:ext cx="24071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Moves to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801868" y="3200400"/>
            <a:ext cx="256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057900" y="3200400"/>
            <a:ext cx="2498598" cy="1005840"/>
          </a:xfrm>
          <a:prstGeom prst="roundRect">
            <a:avLst>
              <a:gd name="adj" fmla="val 7273"/>
            </a:avLst>
          </a:prstGeom>
          <a:solidFill>
            <a:srgbClr val="EAF0FE"/>
          </a:solidFill>
          <a:ln w="12700">
            <a:solidFill>
              <a:srgbClr val="2E6BE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103620" y="3200400"/>
            <a:ext cx="24071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Gripper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8556498" y="3200400"/>
            <a:ext cx="256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812530" y="3200400"/>
            <a:ext cx="2498598" cy="1005840"/>
          </a:xfrm>
          <a:prstGeom prst="roundRect">
            <a:avLst>
              <a:gd name="adj" fmla="val 7273"/>
            </a:avLst>
          </a:prstGeom>
          <a:solidFill>
            <a:srgbClr val="EAF0FE"/>
          </a:solidFill>
          <a:ln w="12700">
            <a:solidFill>
              <a:srgbClr val="2E6BE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858250" y="3200400"/>
            <a:ext cx="24071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45720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4F6F8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2960" y="475488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of Stage 1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" y="507492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mechanical construction, servo movement, arm positioning, gripper operation, and basic pick-and-place capability before adding mobility.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Success Criteria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Omnidirectional Robotic Arm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E7F8F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Omnidirectional Mobile Platform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Stage 1 is successful, the robotic arm is mounted on an omnidirectional mobile chassis, adding mobility to the existing manipulator.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5394960" cy="1554480"/>
          </a:xfrm>
          <a:prstGeom prst="roundRect">
            <a:avLst>
              <a:gd name="adj" fmla="val 5882"/>
            </a:avLst>
          </a:prstGeom>
          <a:solidFill>
            <a:srgbClr val="E7F8F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880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Method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2004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robotic arm and chassis are both controlled manually using the ESP32's Wi-Fi capability. The robot is still NOT autonomous at this stage.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48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Stage 2?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75488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the two physical systems — mobile platform + robotic manipulator — proving they work together before adding decision-making.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16459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Chassis Components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2011680"/>
            <a:ext cx="5349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Omnidirectional wheels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Motors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Motor-control system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storage area for objects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ESP32-CAM near the base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Mobile Platform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Omnidirectional Robotic Arm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E7F8F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Pick-and-Place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E7F8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719072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Task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993392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mobile chassis to position the robot near objects, and use the robotic arm to pick, carry, and place them.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743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2498598" cy="914400"/>
          </a:xfrm>
          <a:prstGeom prst="roundRect">
            <a:avLst>
              <a:gd name="adj" fmla="val 8000"/>
            </a:avLst>
          </a:prstGeom>
          <a:solidFill>
            <a:srgbClr val="E7F8F1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3063240"/>
            <a:ext cx="24071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047238" y="3063240"/>
            <a:ext cx="256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303270" y="3063240"/>
            <a:ext cx="2498598" cy="914400"/>
          </a:xfrm>
          <a:prstGeom prst="roundRect">
            <a:avLst>
              <a:gd name="adj" fmla="val 8000"/>
            </a:avLst>
          </a:prstGeom>
          <a:solidFill>
            <a:srgbClr val="E7F8F1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48990" y="3063240"/>
            <a:ext cx="24071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Chassis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801868" y="3063240"/>
            <a:ext cx="256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57900" y="3063240"/>
            <a:ext cx="2498598" cy="914400"/>
          </a:xfrm>
          <a:prstGeom prst="roundRect">
            <a:avLst>
              <a:gd name="adj" fmla="val 8000"/>
            </a:avLst>
          </a:prstGeom>
          <a:solidFill>
            <a:srgbClr val="E7F8F1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03620" y="3063240"/>
            <a:ext cx="24071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556498" y="3063240"/>
            <a:ext cx="256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812530" y="3063240"/>
            <a:ext cx="2498598" cy="914400"/>
          </a:xfrm>
          <a:prstGeom prst="roundRect">
            <a:avLst>
              <a:gd name="adj" fmla="val 8000"/>
            </a:avLst>
          </a:prstGeom>
          <a:solidFill>
            <a:srgbClr val="E7F8F1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858250" y="3063240"/>
            <a:ext cx="24071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957316" y="40233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8640" y="4389120"/>
            <a:ext cx="2498598" cy="914400"/>
          </a:xfrm>
          <a:prstGeom prst="roundRect">
            <a:avLst>
              <a:gd name="adj" fmla="val 8000"/>
            </a:avLst>
          </a:prstGeom>
          <a:solidFill>
            <a:srgbClr val="E7F8F1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4360" y="4389120"/>
            <a:ext cx="24071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3047238" y="4389120"/>
            <a:ext cx="256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303270" y="4389120"/>
            <a:ext cx="2498598" cy="914400"/>
          </a:xfrm>
          <a:prstGeom prst="roundRect">
            <a:avLst>
              <a:gd name="adj" fmla="val 8000"/>
            </a:avLst>
          </a:prstGeom>
          <a:solidFill>
            <a:srgbClr val="E7F8F1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348990" y="4389120"/>
            <a:ext cx="24071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/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Object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801868" y="4389120"/>
            <a:ext cx="256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057900" y="4389120"/>
            <a:ext cx="2498598" cy="914400"/>
          </a:xfrm>
          <a:prstGeom prst="roundRect">
            <a:avLst>
              <a:gd name="adj" fmla="val 8000"/>
            </a:avLst>
          </a:prstGeom>
          <a:solidFill>
            <a:srgbClr val="E7F8F1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103620" y="4389120"/>
            <a:ext cx="24071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8556498" y="4389120"/>
            <a:ext cx="256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812530" y="4389120"/>
            <a:ext cx="2498598" cy="914400"/>
          </a:xfrm>
          <a:prstGeom prst="roundRect">
            <a:avLst>
              <a:gd name="adj" fmla="val 8000"/>
            </a:avLst>
          </a:prstGeom>
          <a:solidFill>
            <a:srgbClr val="E7F8F1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858250" y="4389120"/>
            <a:ext cx="24071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486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Mobile Base  +  Robotic Arm  +  Camera  +  Manual Wi-Fi Control   (not autonomous)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Mobile Pick-and-Place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Omnidirectional Robotic Arm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FDECE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Robot — Technologies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703320" cy="2148840"/>
          </a:xfrm>
          <a:prstGeom prst="roundRect">
            <a:avLst>
              <a:gd name="adj" fmla="val 4255"/>
            </a:avLst>
          </a:prstGeom>
          <a:solidFill>
            <a:srgbClr val="FDECE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5544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20240"/>
            <a:ext cx="3337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— high-level brain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— low-level actuator control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— communication &amp; coordination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0" y="1417320"/>
            <a:ext cx="3703320" cy="2148840"/>
          </a:xfrm>
          <a:prstGeom prst="roundRect">
            <a:avLst>
              <a:gd name="adj" fmla="val 4255"/>
            </a:avLst>
          </a:prstGeom>
          <a:solidFill>
            <a:srgbClr val="FDECE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0" y="15544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1920240"/>
            <a:ext cx="3337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camera / ESP32-CAM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0" y="1417320"/>
            <a:ext cx="3703320" cy="2148840"/>
          </a:xfrm>
          <a:prstGeom prst="roundRect">
            <a:avLst>
              <a:gd name="adj" fmla="val 4255"/>
            </a:avLst>
          </a:prstGeom>
          <a:solidFill>
            <a:srgbClr val="FDECE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412480" y="15544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8412480" y="1920240"/>
            <a:ext cx="3337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/ ToF sensors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 encoders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3703320" cy="2148840"/>
          </a:xfrm>
          <a:prstGeom prst="roundRect">
            <a:avLst>
              <a:gd name="adj" fmla="val 4255"/>
            </a:avLst>
          </a:prstGeom>
          <a:solidFill>
            <a:srgbClr val="FDECE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38404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4206240"/>
            <a:ext cx="3337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SLAM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Nav2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389120" y="3703320"/>
            <a:ext cx="3703320" cy="2148840"/>
          </a:xfrm>
          <a:prstGeom prst="roundRect">
            <a:avLst>
              <a:gd name="adj" fmla="val 4255"/>
            </a:avLst>
          </a:prstGeom>
          <a:solidFill>
            <a:srgbClr val="FDECE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72000" y="38404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 Arm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4206240"/>
            <a:ext cx="3337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kinematics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kinematics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Trajectory planning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control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29600" y="3703320"/>
            <a:ext cx="3703320" cy="2148840"/>
          </a:xfrm>
          <a:prstGeom prst="roundRect">
            <a:avLst>
              <a:gd name="adj" fmla="val 4255"/>
            </a:avLst>
          </a:prstGeom>
          <a:solidFill>
            <a:srgbClr val="FDECE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412480" y="38404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&amp; Visualization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8412480" y="4206240"/>
            <a:ext cx="3337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TF2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RViz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Gazebo / Webots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9893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technologies beyond this list will be introduced.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— Autonomous Robot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Omnidirectional Robotic Arm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FDECE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Pick-and-Place Pipeline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580388" cy="1051560"/>
          </a:xfrm>
          <a:prstGeom prst="roundRect">
            <a:avLst>
              <a:gd name="adj" fmla="val 6957"/>
            </a:avLst>
          </a:prstGeom>
          <a:solidFill>
            <a:srgbClr val="FDECE3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828800"/>
            <a:ext cx="14889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129028" y="1828800"/>
            <a:ext cx="256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385060" y="1828800"/>
            <a:ext cx="1580388" cy="1051560"/>
          </a:xfrm>
          <a:prstGeom prst="roundRect">
            <a:avLst>
              <a:gd name="adj" fmla="val 6957"/>
            </a:avLst>
          </a:prstGeom>
          <a:solidFill>
            <a:srgbClr val="FDECE3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30780" y="1828800"/>
            <a:ext cx="14889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965448" y="1828800"/>
            <a:ext cx="256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21480" y="1828800"/>
            <a:ext cx="1580388" cy="1051560"/>
          </a:xfrm>
          <a:prstGeom prst="roundRect">
            <a:avLst>
              <a:gd name="adj" fmla="val 6957"/>
            </a:avLst>
          </a:prstGeom>
          <a:solidFill>
            <a:srgbClr val="FDECE3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67200" y="1828800"/>
            <a:ext cx="14889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 Object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801868" y="1828800"/>
            <a:ext cx="256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57900" y="1828800"/>
            <a:ext cx="1580388" cy="1051560"/>
          </a:xfrm>
          <a:prstGeom prst="roundRect">
            <a:avLst>
              <a:gd name="adj" fmla="val 6957"/>
            </a:avLst>
          </a:prstGeom>
          <a:solidFill>
            <a:srgbClr val="FDECE3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03620" y="1828800"/>
            <a:ext cx="14889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Base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638288" y="1828800"/>
            <a:ext cx="256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894320" y="1828800"/>
            <a:ext cx="1580388" cy="1051560"/>
          </a:xfrm>
          <a:prstGeom prst="roundRect">
            <a:avLst>
              <a:gd name="adj" fmla="val 6957"/>
            </a:avLst>
          </a:prstGeom>
          <a:solidFill>
            <a:srgbClr val="FDECE3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940040" y="1828800"/>
            <a:ext cx="14889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Arm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9474708" y="1828800"/>
            <a:ext cx="256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730740" y="1828800"/>
            <a:ext cx="1580388" cy="1051560"/>
          </a:xfrm>
          <a:prstGeom prst="roundRect">
            <a:avLst>
              <a:gd name="adj" fmla="val 6957"/>
            </a:avLst>
          </a:prstGeom>
          <a:solidFill>
            <a:srgbClr val="FDECE3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76460" y="1828800"/>
            <a:ext cx="14889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1365992" y="2880360"/>
            <a:ext cx="0" cy="502920"/>
          </a:xfrm>
          <a:prstGeom prst="line">
            <a:avLst/>
          </a:prstGeom>
          <a:noFill/>
          <a:ln w="19050">
            <a:solidFill>
              <a:srgbClr val="5B6672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9445752" y="2926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continues into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520440"/>
            <a:ext cx="1580388" cy="1051560"/>
          </a:xfrm>
          <a:prstGeom prst="roundRect">
            <a:avLst>
              <a:gd name="adj" fmla="val 6957"/>
            </a:avLst>
          </a:prstGeom>
          <a:solidFill>
            <a:srgbClr val="FDECE3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4360" y="3520440"/>
            <a:ext cx="14889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2129028" y="3520440"/>
            <a:ext cx="256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385060" y="3520440"/>
            <a:ext cx="1580388" cy="1051560"/>
          </a:xfrm>
          <a:prstGeom prst="roundRect">
            <a:avLst>
              <a:gd name="adj" fmla="val 6957"/>
            </a:avLst>
          </a:prstGeom>
          <a:solidFill>
            <a:srgbClr val="FDECE3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430780" y="3520440"/>
            <a:ext cx="14889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3965448" y="3520440"/>
            <a:ext cx="256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221480" y="3520440"/>
            <a:ext cx="1580388" cy="1051560"/>
          </a:xfrm>
          <a:prstGeom prst="roundRect">
            <a:avLst>
              <a:gd name="adj" fmla="val 6957"/>
            </a:avLst>
          </a:prstGeom>
          <a:solidFill>
            <a:srgbClr val="FDECE3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267200" y="3520440"/>
            <a:ext cx="14889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801868" y="3520440"/>
            <a:ext cx="256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057900" y="3520440"/>
            <a:ext cx="1580388" cy="1051560"/>
          </a:xfrm>
          <a:prstGeom prst="roundRect">
            <a:avLst>
              <a:gd name="adj" fmla="val 6957"/>
            </a:avLst>
          </a:prstGeom>
          <a:solidFill>
            <a:srgbClr val="FDECE3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103620" y="3520440"/>
            <a:ext cx="14889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7638288" y="3520440"/>
            <a:ext cx="256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894320" y="3520440"/>
            <a:ext cx="1580388" cy="1051560"/>
          </a:xfrm>
          <a:prstGeom prst="roundRect">
            <a:avLst>
              <a:gd name="adj" fmla="val 6957"/>
            </a:avLst>
          </a:prstGeom>
          <a:solidFill>
            <a:srgbClr val="FDECE3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940040" y="3520440"/>
            <a:ext cx="14889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9474708" y="3520440"/>
            <a:ext cx="256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9730740" y="3520440"/>
            <a:ext cx="1580388" cy="1051560"/>
          </a:xfrm>
          <a:prstGeom prst="roundRect">
            <a:avLst>
              <a:gd name="adj" fmla="val 6957"/>
            </a:avLst>
          </a:prstGeom>
          <a:solidFill>
            <a:srgbClr val="FDECE3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776460" y="3520440"/>
            <a:ext cx="14889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Next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48640" y="50292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4F6F8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822960" y="5193792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Task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" y="548640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robot autonomously identifies and picks objects from a collection area, transports them using its omnidirectional base, and places them into their designated locations.</a:t>
            </a:r>
            <a:endParaRPr lang="en-US" sz="1350" dirty="0"/>
          </a:p>
        </p:txBody>
      </p:sp>
      <p:sp>
        <p:nvSpPr>
          <p:cNvPr id="44" name="Text 4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— Pipeline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Omnidirectional Robotic Arm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168396" y="1188720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FDECE3"/>
          </a:solidFill>
          <a:ln w="15875">
            <a:solidFill>
              <a:srgbClr val="E8590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168396" y="1188720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+ Sensors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57316" y="175564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168396" y="1938528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FDECE3"/>
          </a:solidFill>
          <a:ln w="15875">
            <a:solidFill>
              <a:srgbClr val="E8590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168396" y="1938528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957316" y="250545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168396" y="2688336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FDECE3"/>
          </a:solidFill>
          <a:ln w="15875">
            <a:solidFill>
              <a:srgbClr val="E859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168396" y="2688336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957316" y="325526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168396" y="3438144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FDECE3"/>
          </a:solidFill>
          <a:ln w="15875">
            <a:solidFill>
              <a:srgbClr val="E8590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168396" y="3438144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+ Perception + Arm Planning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957316" y="40050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168396" y="4187952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EAF0FE"/>
          </a:solidFill>
          <a:ln w="15875">
            <a:solidFill>
              <a:srgbClr val="2E6B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168396" y="4187952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957316" y="475488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168396" y="4937760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EAF0FE"/>
          </a:solidFill>
          <a:ln w="15875">
            <a:solidFill>
              <a:srgbClr val="2E6BE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168396" y="4937760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Servos + Mobile Motors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99516" y="1188720"/>
            <a:ext cx="2103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</a:t>
            </a:r>
            <a:endParaRPr lang="en-US" sz="13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&amp;</a:t>
            </a:r>
            <a:endParaRPr lang="en-US" sz="13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386316" y="4370832"/>
            <a:ext cx="210312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Low-level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 control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Omnidirectional Robotic Arm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Development Roadmap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611880" cy="3840480"/>
          </a:xfrm>
          <a:prstGeom prst="roundRect">
            <a:avLst>
              <a:gd name="adj" fmla="val 2532"/>
            </a:avLst>
          </a:prstGeom>
          <a:solidFill>
            <a:srgbClr val="262E6E"/>
          </a:solidFill>
          <a:ln w="15875">
            <a:solidFill>
              <a:srgbClr val="6FA8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F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77240" y="2112264"/>
            <a:ext cx="109728" cy="109728"/>
          </a:xfrm>
          <a:prstGeom prst="ellipse">
            <a:avLst/>
          </a:prstGeom>
          <a:solidFill>
            <a:srgbClr val="6FA8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198424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" y="2980944"/>
            <a:ext cx="109728" cy="109728"/>
          </a:xfrm>
          <a:prstGeom prst="ellipse">
            <a:avLst/>
          </a:prstGeom>
          <a:solidFill>
            <a:srgbClr val="6FA8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285292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3849624"/>
            <a:ext cx="109728" cy="109728"/>
          </a:xfrm>
          <a:prstGeom prst="ellipse">
            <a:avLst/>
          </a:prstGeom>
          <a:solidFill>
            <a:srgbClr val="6FA8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72160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Pick &amp; Place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160520" y="31089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9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89120" y="1371600"/>
            <a:ext cx="3611880" cy="3840480"/>
          </a:xfrm>
          <a:prstGeom prst="roundRect">
            <a:avLst>
              <a:gd name="adj" fmla="val 2532"/>
            </a:avLst>
          </a:prstGeom>
          <a:solidFill>
            <a:srgbClr val="262E6E"/>
          </a:solidFill>
          <a:ln w="15875">
            <a:solidFill>
              <a:srgbClr val="5FE0B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17720" y="15544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E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17720" y="2112264"/>
            <a:ext cx="109728" cy="109728"/>
          </a:xfrm>
          <a:prstGeom prst="ellipse">
            <a:avLst/>
          </a:prstGeom>
          <a:solidFill>
            <a:srgbClr val="5FE0B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46320" y="198424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Omnidirectional Chassis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17720" y="2980944"/>
            <a:ext cx="109728" cy="109728"/>
          </a:xfrm>
          <a:prstGeom prst="ellipse">
            <a:avLst/>
          </a:prstGeom>
          <a:solidFill>
            <a:srgbClr val="5FE0B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46320" y="285292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Mobile Manipulation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001000" y="31089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9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29600" y="1371600"/>
            <a:ext cx="3611880" cy="3840480"/>
          </a:xfrm>
          <a:prstGeom prst="roundRect">
            <a:avLst>
              <a:gd name="adj" fmla="val 2532"/>
            </a:avLst>
          </a:prstGeom>
          <a:solidFill>
            <a:srgbClr val="262E6E"/>
          </a:solidFill>
          <a:ln w="15875">
            <a:solidFill>
              <a:srgbClr val="FFA46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58200" y="15544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A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458200" y="2112264"/>
            <a:ext cx="109728" cy="109728"/>
          </a:xfrm>
          <a:prstGeom prst="ellipse">
            <a:avLst/>
          </a:prstGeom>
          <a:solidFill>
            <a:srgbClr val="FFA46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686800" y="198424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Raspberry Pi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458200" y="2980944"/>
            <a:ext cx="109728" cy="109728"/>
          </a:xfrm>
          <a:prstGeom prst="ellipse">
            <a:avLst/>
          </a:prstGeom>
          <a:solidFill>
            <a:srgbClr val="FFA46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686800" y="285292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→ Perception → SLAM → Navigation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458200" y="3849624"/>
            <a:ext cx="109728" cy="109728"/>
          </a:xfrm>
          <a:prstGeom prst="ellipse">
            <a:avLst/>
          </a:prstGeom>
          <a:solidFill>
            <a:srgbClr val="FFA46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686800" y="372160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Pick &amp; Place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544068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141A4D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77240" y="5532120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Objective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77240" y="5806440"/>
            <a:ext cx="10634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autonomous omnidirectional mobile robotic arm capable of identifying objects, picking them, transporting them, and placing them at designated locations.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2026-09-13T15:13:45Z</dcterms:created>
  <dcterms:modified xsi:type="dcterms:W3CDTF">2026-09-13T15:13:45Z</dcterms:modified>
</cp:coreProperties>
</file>