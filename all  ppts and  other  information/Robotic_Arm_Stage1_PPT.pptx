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A3B7B9-C18C-4E6E-B205-7A6985CF5637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604231D-9DA3-4E12-8657-3464AC451A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04C3AE-A567-42BE-98FF-350BFCA0C3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17540F-6D1C-4D9E-9EC8-CFE72B987F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A1E1A7-3D74-4E81-87DE-C982119286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8D4662-6DEB-4329-B2F2-1B3CCD27BB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3307EC-B986-4253-B51D-632D04B66C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B0EC8A-E5AD-4E5D-8270-9C384C510A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5B8460-D600-4A48-9879-D9A8BC6C17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C8AE51-8375-472B-8CAA-9045F2FA9F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oogle.com/search?q=ESP32+Development+Board+w/+WiFi+%2B+Bluetooth&amp;prds=catalogid%3A13193015908400653872%2Cgpcid%3A2675550759148858497%2CheadlineOfferDocid%3A3657577659656199839%2Cmid%3A576462887683711998%2Cproductid%3A3491078775944270012%2Cpvo%3A38%2Cpvt%3Ahg%2Crds%3APC_2675550759148858497%7CPROD_PC_2675550759148858497&amp;ibp=oshop&amp;gemcid=c_e3613b47955b67e7&amp;gemrid=r_37819fc5674f100f&amp;pvo=38&amp;opi=103135050&amp;gl=IN&amp;hl=en&amp;noiga=1" TargetMode="External"/><Relationship Id="rId3" Type="http://schemas.openxmlformats.org/officeDocument/2006/relationships/hyperlink" Target="https://google.com/search?q=PCA9685+16+Channel+Servo+Motor+Driver+Module&amp;prds=catalogid%3A17397237298533666711%2CheadlineOfferDocid%3A3787868260946732255%2Cproductid%3A13398337443828463751%2Cpvo%3A38%2Cpvt%3Ahg%2Crds%3ACID_17397237298533666711%7CPROD_CID_17397237298533666711&amp;ibp=oshop&amp;gemcid=c_e3613b47955b67e7&amp;gemrid=r_37819fc5674f100f&amp;pvo=38&amp;opi=103135050&amp;gl=IN&amp;hl=en&amp;noiga=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2881800" y="58320"/>
            <a:ext cx="5608080" cy="95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5"/>
          <p:cNvSpPr/>
          <p:nvPr/>
        </p:nvSpPr>
        <p:spPr>
          <a:xfrm>
            <a:off x="1450800" y="643320"/>
            <a:ext cx="9303120" cy="17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Mobile Intelligent Robotic Arm Interface (MIRAI)</a:t>
            </a:r>
            <a:endParaRPr lang="en-IN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2131200" y="3714120"/>
            <a:ext cx="3272400" cy="1735200"/>
          </a:xfrm>
          <a:prstGeom prst="roundRect">
            <a:avLst>
              <a:gd name="adj" fmla="val 3158"/>
            </a:avLst>
          </a:prstGeom>
          <a:solidFill>
            <a:srgbClr val="263373"/>
          </a:solidFill>
          <a:ln w="1270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171160" y="3795840"/>
            <a:ext cx="4386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99" strike="noStrike">
                <a:solidFill>
                  <a:srgbClr val="E8622C"/>
                </a:solidFill>
                <a:effectLst/>
                <a:uFillTx/>
                <a:latin typeface="Calibri"/>
                <a:ea typeface="Calibri"/>
              </a:rPr>
              <a:t>TEAM MEMBERS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9"/>
          <p:cNvSpPr/>
          <p:nvPr/>
        </p:nvSpPr>
        <p:spPr>
          <a:xfrm>
            <a:off x="2158920" y="4290840"/>
            <a:ext cx="3429000" cy="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Team Member 1 :</a:t>
            </a:r>
            <a:r>
              <a:rPr lang="en-US" sz="12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Aditya  R Menon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Roll No: 2501630006   Contact: 9560900801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Team Member 2  Ayush  Singh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Roll No: 2501630012   Contact: 917303930312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Team Member 2  Ajitesh  Singh Gusain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Roll No: 2501630014   Contact: 9871230184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0"/>
          <p:cNvSpPr/>
          <p:nvPr/>
        </p:nvSpPr>
        <p:spPr>
          <a:xfrm rot="20400">
            <a:off x="6445440" y="4266360"/>
            <a:ext cx="3759480" cy="784800"/>
          </a:xfrm>
          <a:prstGeom prst="roundRect">
            <a:avLst>
              <a:gd name="adj" fmla="val 3158"/>
            </a:avLst>
          </a:prstGeom>
          <a:solidFill>
            <a:srgbClr val="263373"/>
          </a:solidFill>
          <a:ln w="1270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618960" y="4326480"/>
            <a:ext cx="23752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99" strike="noStrike">
                <a:solidFill>
                  <a:srgbClr val="E8622C"/>
                </a:solidFill>
                <a:effectLst/>
                <a:uFillTx/>
                <a:latin typeface="Calibri"/>
                <a:ea typeface="Calibri"/>
              </a:rPr>
              <a:t>MENTOR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47680" y="4609440"/>
            <a:ext cx="343476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Calibri"/>
                <a:ea typeface="Calibri"/>
              </a:rPr>
              <a:t>Dr. Kishore Ayyala Ajay Kumar</a:t>
            </a:r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89160" y="653184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C97C8"/>
                </a:solidFill>
                <a:effectLst/>
                <a:uFillTx/>
                <a:latin typeface="Calibri"/>
                <a:ea typeface="Calibri"/>
              </a:rPr>
              <a:t>K.R. Mangalam University  |  School of Engineering &amp; Technology</a:t>
            </a:r>
            <a:endParaRPr lang="en-IN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3333600" y="329400"/>
            <a:ext cx="3665520" cy="62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0"/>
          <p:cNvSpPr/>
          <p:nvPr/>
        </p:nvSpPr>
        <p:spPr>
          <a:xfrm>
            <a:off x="548280" y="1051560"/>
            <a:ext cx="110923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Problem Statement &amp; Goal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548280" y="1965960"/>
            <a:ext cx="5392800" cy="4158360"/>
          </a:xfrm>
          <a:prstGeom prst="roundRect">
            <a:avLst>
              <a:gd name="adj" fmla="val 1758"/>
            </a:avLst>
          </a:prstGeom>
          <a:solidFill>
            <a:srgbClr val="EEF2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868320" y="2286000"/>
            <a:ext cx="500760" cy="500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868320" y="228600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554120" y="2286000"/>
            <a:ext cx="4112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The Problem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68320" y="2971800"/>
            <a:ext cx="4752720" cy="28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Most low-cost robotic arms are either fully manual or attempt full autonomy in one leap — making them hard to validate, debug, and defend as a working system.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There is no gradual, testable pathway from a simple manipulator to an autonomous mobile robot that a student team can realistically build stage by stage.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6244920" y="1965960"/>
            <a:ext cx="5392800" cy="415836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564960" y="2286000"/>
            <a:ext cx="500760" cy="500760"/>
          </a:xfrm>
          <a:prstGeom prst="ellipse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6564960" y="2286000"/>
            <a:ext cx="50076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7250760" y="2286000"/>
            <a:ext cx="41126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Our Goal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6564960" y="2971800"/>
            <a:ext cx="47527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Develop a 6-DOF robotic arm mounted on an omnidirectional mobile platform that gradually evolves — across three clearly defined stages — from a manually controlled manipulator into a fully autonomous pick-and-place robot.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6564960" y="4846320"/>
            <a:ext cx="47527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Current focus: STAGE 1 — proving the arm can physically perform accurate manipulation before adding mobility or autonomy.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56840" y="644652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Progressive Development of an Autonomous Omnidirectional Robotic Arm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3438360" y="224640"/>
            <a:ext cx="3371760" cy="57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0"/>
          <p:cNvSpPr/>
          <p:nvPr/>
        </p:nvSpPr>
        <p:spPr>
          <a:xfrm>
            <a:off x="548280" y="1051560"/>
            <a:ext cx="110923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Project Development Pipeline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548280" y="1691640"/>
            <a:ext cx="110923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Three progressive stages — each stage validates one capability before the next is added.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"/>
          <p:cNvSpPr/>
          <p:nvPr/>
        </p:nvSpPr>
        <p:spPr>
          <a:xfrm>
            <a:off x="639720" y="2331720"/>
            <a:ext cx="3243960" cy="3381120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639720" y="2039040"/>
            <a:ext cx="1552320" cy="363600"/>
          </a:xfrm>
          <a:prstGeom prst="roundRect">
            <a:avLst>
              <a:gd name="adj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639720" y="2030040"/>
            <a:ext cx="15523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5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CURRENT STAGE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5"/>
          <p:cNvSpPr/>
          <p:nvPr/>
        </p:nvSpPr>
        <p:spPr>
          <a:xfrm>
            <a:off x="914040" y="2606040"/>
            <a:ext cx="546480" cy="546480"/>
          </a:xfrm>
          <a:prstGeom prst="ellipse">
            <a:avLst/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914040" y="2606040"/>
            <a:ext cx="546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914040" y="3337560"/>
            <a:ext cx="26953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Fixed Robotic Arm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914040" y="402336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E8622C"/>
                </a:solidFill>
                <a:effectLst/>
                <a:uFillTx/>
                <a:latin typeface="Calibri"/>
                <a:ea typeface="Calibri"/>
              </a:rPr>
              <a:t>Manual Pick &amp; Place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914040" y="4480560"/>
            <a:ext cx="2695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Stationary 6-DOF arm, camera-guided, manually controlled.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3940560" y="3858840"/>
            <a:ext cx="390960" cy="326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4388760" y="2331720"/>
            <a:ext cx="3243960" cy="3381120"/>
          </a:xfrm>
          <a:prstGeom prst="roundRect">
            <a:avLst>
              <a:gd name="adj" fmla="val 2254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4663080" y="2606040"/>
            <a:ext cx="546480" cy="5464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3"/>
          <p:cNvSpPr/>
          <p:nvPr/>
        </p:nvSpPr>
        <p:spPr>
          <a:xfrm>
            <a:off x="4663080" y="2606040"/>
            <a:ext cx="546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4"/>
          <p:cNvSpPr/>
          <p:nvPr/>
        </p:nvSpPr>
        <p:spPr>
          <a:xfrm>
            <a:off x="4663080" y="3337560"/>
            <a:ext cx="26953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Mobile Omnidirectional Arm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5"/>
          <p:cNvSpPr/>
          <p:nvPr/>
        </p:nvSpPr>
        <p:spPr>
          <a:xfrm>
            <a:off x="4663080" y="402336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Manual Navigation + Manipulation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6"/>
          <p:cNvSpPr/>
          <p:nvPr/>
        </p:nvSpPr>
        <p:spPr>
          <a:xfrm>
            <a:off x="4663080" y="4480560"/>
            <a:ext cx="2695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Arm mounted on an omnidirectional chassis, still manually driven.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7689600" y="3858840"/>
            <a:ext cx="390960" cy="326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8"/>
          <p:cNvSpPr/>
          <p:nvPr/>
        </p:nvSpPr>
        <p:spPr>
          <a:xfrm>
            <a:off x="8137800" y="2331720"/>
            <a:ext cx="3243960" cy="3381120"/>
          </a:xfrm>
          <a:prstGeom prst="roundRect">
            <a:avLst>
              <a:gd name="adj" fmla="val 2254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8412120" y="2606040"/>
            <a:ext cx="546480" cy="5464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8412120" y="2606040"/>
            <a:ext cx="546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1"/>
          <p:cNvSpPr/>
          <p:nvPr/>
        </p:nvSpPr>
        <p:spPr>
          <a:xfrm>
            <a:off x="8412120" y="3337560"/>
            <a:ext cx="26953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Autonomous Mobile Manipulator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2"/>
          <p:cNvSpPr/>
          <p:nvPr/>
        </p:nvSpPr>
        <p:spPr>
          <a:xfrm>
            <a:off x="8412120" y="4023360"/>
            <a:ext cx="2695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Vision + ROS 2 + SLAM + Navigation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3"/>
          <p:cNvSpPr/>
          <p:nvPr/>
        </p:nvSpPr>
        <p:spPr>
          <a:xfrm>
            <a:off x="8412120" y="4480560"/>
            <a:ext cx="2695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Fully autonomous pick, transport, and place.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4"/>
          <p:cNvSpPr/>
          <p:nvPr/>
        </p:nvSpPr>
        <p:spPr>
          <a:xfrm>
            <a:off x="456840" y="644652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Progressive Development of an Autonomous Omnidirectional Robotic Arm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5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3400200" y="225000"/>
            <a:ext cx="3608280" cy="61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0"/>
          <p:cNvSpPr/>
          <p:nvPr/>
        </p:nvSpPr>
        <p:spPr>
          <a:xfrm>
            <a:off x="548280" y="1051560"/>
            <a:ext cx="110923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Stage 1 — Fixed Robotic Arm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548280" y="1783080"/>
            <a:ext cx="11092320" cy="866520"/>
          </a:xfrm>
          <a:prstGeom prst="roundRect">
            <a:avLst>
              <a:gd name="adj" fmla="val 6316"/>
            </a:avLst>
          </a:prstGeom>
          <a:solidFill>
            <a:srgbClr val="EEF2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822600" y="1783080"/>
            <a:ext cx="1054368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Objective   </a:t>
            </a:r>
            <a:r>
              <a:rPr lang="en-US" sz="14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Build and validate the 6-DOF robotic arm as a stationary manipulator before introducing mobility or autonomy.</a:t>
            </a:r>
            <a:endParaRPr lang="en-IN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48280" y="2880360"/>
            <a:ext cx="54842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System Hardware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639720" y="3337560"/>
            <a:ext cx="5301360" cy="32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6-DOF robotic arm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6 servo motors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Servo driver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ESP32 microcontroller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ESP32-CAM / camera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Robotic gripper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spcAft>
                <a:spcPts val="4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5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Fixed base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6354720" y="2880360"/>
            <a:ext cx="5301360" cy="118656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629040" y="3026520"/>
            <a:ext cx="4752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E8622C"/>
                </a:solidFill>
                <a:effectLst/>
                <a:uFillTx/>
                <a:latin typeface="Calibri"/>
                <a:ea typeface="Calibri"/>
              </a:rPr>
              <a:t>MAIN TASK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6629040" y="3300840"/>
            <a:ext cx="475272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Successfully pick a LEGO / object using the camera for detection, and place it at a new location — using fully manual control.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6354720" y="4297680"/>
            <a:ext cx="53013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Testing Focus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6446160" y="4709160"/>
            <a:ext cx="5118480" cy="18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343080" indent="-343080" defTabSz="914400">
              <a:lnSpc>
                <a:spcPct val="130000"/>
              </a:lnSpc>
              <a:spcAft>
                <a:spcPts val="3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Test all 6 DOF &amp; servo movement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spcAft>
                <a:spcPts val="3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Arm positioning accuracy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spcAft>
                <a:spcPts val="3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Gripper opening / closing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spcAft>
                <a:spcPts val="3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Object picking &amp; placement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spcAft>
                <a:spcPts val="300"/>
              </a:spcAft>
              <a:buClr>
                <a:srgbClr val="202533"/>
              </a:buClr>
              <a:buFont typeface="OpenSymbol"/>
              <a:buChar char="▪"/>
            </a:pPr>
            <a:r>
              <a:rPr lang="en-US" sz="1300" b="0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Validate mechanical design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456840" y="644652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Progressive Development of an Autonomous Omnidirectional Robotic Arm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3314520" y="300960"/>
            <a:ext cx="3913200" cy="66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0"/>
          <p:cNvSpPr/>
          <p:nvPr/>
        </p:nvSpPr>
        <p:spPr>
          <a:xfrm>
            <a:off x="548280" y="1051560"/>
            <a:ext cx="110923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Stage 1 — pipline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280" y="1691640"/>
            <a:ext cx="110923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Why Stage 1? Before making the robot autonomous, we must prove the arm itself can physically perform accurate manipulation.</a:t>
            </a:r>
            <a:endParaRPr lang="en-IN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48280" y="228600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1582920" y="243216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1582920" y="243216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658080" y="301752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Object detected / observed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157200" y="2843640"/>
            <a:ext cx="199080" cy="25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3385800" y="228600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4420800" y="243216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4420800" y="243216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3495600" y="301752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User controls arm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5995080" y="2843640"/>
            <a:ext cx="199080" cy="25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6223680" y="228600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7258320" y="243216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7258320" y="243216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6333120" y="301752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Arm moves to object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8832600" y="2843640"/>
            <a:ext cx="199080" cy="25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9061200" y="228600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10095840" y="243216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10095840" y="243216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9171000" y="301752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Gripper closes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1"/>
          <p:cNvSpPr/>
          <p:nvPr/>
        </p:nvSpPr>
        <p:spPr>
          <a:xfrm>
            <a:off x="548280" y="489204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1582920" y="503820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1582920" y="503820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658080" y="562356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Object picked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5"/>
          <p:cNvSpPr/>
          <p:nvPr/>
        </p:nvSpPr>
        <p:spPr>
          <a:xfrm>
            <a:off x="3157200" y="5449680"/>
            <a:ext cx="199080" cy="25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3385800" y="489204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7"/>
          <p:cNvSpPr/>
          <p:nvPr/>
        </p:nvSpPr>
        <p:spPr>
          <a:xfrm>
            <a:off x="4420800" y="503820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8"/>
          <p:cNvSpPr/>
          <p:nvPr/>
        </p:nvSpPr>
        <p:spPr>
          <a:xfrm>
            <a:off x="4420800" y="503820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9"/>
          <p:cNvSpPr/>
          <p:nvPr/>
        </p:nvSpPr>
        <p:spPr>
          <a:xfrm>
            <a:off x="3495600" y="562356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Arm moves to destination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0"/>
          <p:cNvSpPr/>
          <p:nvPr/>
        </p:nvSpPr>
        <p:spPr>
          <a:xfrm>
            <a:off x="5995080" y="5449680"/>
            <a:ext cx="199080" cy="25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1"/>
          <p:cNvSpPr/>
          <p:nvPr/>
        </p:nvSpPr>
        <p:spPr>
          <a:xfrm>
            <a:off x="6223680" y="489204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2"/>
          <p:cNvSpPr/>
          <p:nvPr/>
        </p:nvSpPr>
        <p:spPr>
          <a:xfrm>
            <a:off x="7258320" y="503820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3"/>
          <p:cNvSpPr/>
          <p:nvPr/>
        </p:nvSpPr>
        <p:spPr>
          <a:xfrm>
            <a:off x="7258320" y="503820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4"/>
          <p:cNvSpPr/>
          <p:nvPr/>
        </p:nvSpPr>
        <p:spPr>
          <a:xfrm>
            <a:off x="6333120" y="562356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Gripper opens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5"/>
          <p:cNvSpPr/>
          <p:nvPr/>
        </p:nvSpPr>
        <p:spPr>
          <a:xfrm>
            <a:off x="8832600" y="5449680"/>
            <a:ext cx="199080" cy="25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6"/>
          <p:cNvSpPr/>
          <p:nvPr/>
        </p:nvSpPr>
        <p:spPr>
          <a:xfrm>
            <a:off x="9061200" y="4892040"/>
            <a:ext cx="2579400" cy="1369440"/>
          </a:xfrm>
          <a:prstGeom prst="roundRect">
            <a:avLst>
              <a:gd name="adj" fmla="val 4667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7"/>
          <p:cNvSpPr/>
          <p:nvPr/>
        </p:nvSpPr>
        <p:spPr>
          <a:xfrm>
            <a:off x="10095840" y="5038200"/>
            <a:ext cx="509760" cy="509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8"/>
          <p:cNvSpPr/>
          <p:nvPr/>
        </p:nvSpPr>
        <p:spPr>
          <a:xfrm>
            <a:off x="10095840" y="5038200"/>
            <a:ext cx="50976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9"/>
          <p:cNvSpPr/>
          <p:nvPr/>
        </p:nvSpPr>
        <p:spPr>
          <a:xfrm>
            <a:off x="9171000" y="5623560"/>
            <a:ext cx="23598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02533"/>
                </a:solidFill>
                <a:effectLst/>
                <a:uFillTx/>
                <a:latin typeface="Calibri"/>
                <a:ea typeface="Calibri"/>
              </a:rPr>
              <a:t>Object placed successfully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0"/>
          <p:cNvSpPr/>
          <p:nvPr/>
        </p:nvSpPr>
        <p:spPr>
          <a:xfrm>
            <a:off x="10351800" y="3657600"/>
            <a:ext cx="360" cy="617040"/>
          </a:xfrm>
          <a:prstGeom prst="line">
            <a:avLst/>
          </a:prstGeom>
          <a:ln w="3175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1"/>
          <p:cNvSpPr/>
          <p:nvPr/>
        </p:nvSpPr>
        <p:spPr>
          <a:xfrm>
            <a:off x="1838880" y="4274640"/>
            <a:ext cx="8512920" cy="360"/>
          </a:xfrm>
          <a:prstGeom prst="line">
            <a:avLst/>
          </a:prstGeom>
          <a:ln w="3175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2"/>
          <p:cNvSpPr/>
          <p:nvPr/>
        </p:nvSpPr>
        <p:spPr>
          <a:xfrm>
            <a:off x="1711080" y="4275000"/>
            <a:ext cx="253800" cy="615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862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3"/>
          <p:cNvSpPr/>
          <p:nvPr/>
        </p:nvSpPr>
        <p:spPr>
          <a:xfrm>
            <a:off x="456840" y="644652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Progressive Development of an Autonomous Omnidirectional Robotic Arm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4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3693960" y="32040"/>
            <a:ext cx="3770280" cy="6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0"/>
          <p:cNvSpPr/>
          <p:nvPr/>
        </p:nvSpPr>
        <p:spPr>
          <a:xfrm>
            <a:off x="3516480" y="570600"/>
            <a:ext cx="54140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Components List — Stage 1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"/>
          <p:cNvGraphicFramePr/>
          <p:nvPr/>
        </p:nvGraphicFramePr>
        <p:xfrm>
          <a:off x="6315120" y="1284480"/>
          <a:ext cx="5816160" cy="5216760"/>
        </p:xfrm>
        <a:graphic>
          <a:graphicData uri="http://schemas.openxmlformats.org/drawingml/2006/table">
            <a:tbl>
              <a:tblPr/>
              <a:tblGrid>
                <a:gridCol w="1063080"/>
                <a:gridCol w="1825560"/>
                <a:gridCol w="763200"/>
                <a:gridCol w="1261080"/>
                <a:gridCol w="903600"/>
              </a:tblGrid>
              <a:tr h="766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Category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Component Name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Qty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Unit Price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 Cost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32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Actuators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MG996R 180° Servos (torque)  (</a:t>
                      </a: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9.4 kgf·cm 4.8V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Pack of four motors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₹1,317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3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Actuators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MG90S (metal-gear)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Servos(2.2 kg·cm 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₹600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₹439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03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 circuit connections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Breadboard  full size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₹200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₹200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8320">
                <a:tc rowSpan="2"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Main Brain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563C1"/>
                          </a:solidFill>
                          <a:effectLst/>
                          <a:uFillTx/>
                          <a:latin typeface="Arial"/>
                          <a:hlinkClick r:id="rId2"/>
                        </a:rPr>
                        <a:t>ESP32 Development Board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₹342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₹342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GPIO expansion board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₹219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₹219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36840">
                <a:tc rowSpan="2"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Vision Input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454"/>
                        </a:spcAft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mazon Ember;Arial"/>
                        </a:rPr>
                        <a:t>ESP32 CAM Development Board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rial"/>
                        </a:rPr>
                        <a:t>₹</a:t>
                      </a: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229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mazon Ember;Arial"/>
                        </a:rPr>
                        <a:t>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rial"/>
                        </a:rPr>
                        <a:t>₹</a:t>
                      </a: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229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mazon Ember;Arial"/>
                        </a:rPr>
                        <a:t>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993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ESP32-CAM (with OV2640)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₹849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₹849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4" name=""/>
          <p:cNvGraphicFramePr/>
          <p:nvPr/>
        </p:nvGraphicFramePr>
        <p:xfrm>
          <a:off x="-5040" y="1254240"/>
          <a:ext cx="6324120" cy="5269320"/>
        </p:xfrm>
        <a:graphic>
          <a:graphicData uri="http://schemas.openxmlformats.org/drawingml/2006/table">
            <a:tbl>
              <a:tblPr/>
              <a:tblGrid>
                <a:gridCol w="1504440"/>
                <a:gridCol w="1909080"/>
                <a:gridCol w="727200"/>
                <a:gridCol w="1233720"/>
                <a:gridCol w="950040"/>
              </a:tblGrid>
              <a:tr h="5288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Servo Driver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563C1"/>
                          </a:solidFill>
                          <a:effectLst/>
                          <a:uFillTx/>
                          <a:latin typeface="Arial"/>
                          <a:ea typeface="Microsoft YaHei"/>
                          <a:hlinkClick r:id="rId3"/>
                        </a:rPr>
                        <a:t>PCA9685 16-Channel Servo Driver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₹480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₹480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7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 Converter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XL4015 5A Buck Converter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₹249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₹249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2800">
                <a:tc rowSpan="3"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Power Source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3S LiPo Battery 2200mah ,11.1v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₹1,899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₹1,899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28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46"/>
                        </a:spcBef>
                        <a:spcAft>
                          <a:spcPts val="646"/>
                        </a:spcAft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mazon Ember;Arial"/>
                        </a:rPr>
                        <a:t>Robocraze iMAX B6 Digital Balance Charger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br>
                        <a:rPr sz="1400"/>
                      </a:b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₹2,689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mazon Ember;Arial"/>
                        </a:rPr>
                        <a:t>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br>
                        <a:rPr sz="1400"/>
                      </a:b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₹2,689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mazon Ember;Arial"/>
                        </a:rPr>
                        <a:t>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812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pPr/>
                      <a:endParaRPr lang="en-IN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X60 connectors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₹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mazon Ember;Arial"/>
                        </a:rPr>
                        <a:t>63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F1111"/>
                          </a:solidFill>
                          <a:effectLst/>
                          <a:uFillTx/>
                          <a:latin typeface="Amazon Ember;Arial"/>
                          <a:ea typeface="Amazon Ember;Arial"/>
                        </a:rPr>
                        <a:t>₹63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347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For extending the  servo  wires </a:t>
                      </a: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454"/>
                        </a:spcAft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mazon Ember;Arial"/>
                        </a:rPr>
                        <a:t>30CM Servo Extension Cable Pack 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₹299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₹299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2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Wiring &amp; Base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Male-female jumper wires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Pack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₹200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₹200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12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For  wire  protection and covering 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Shrink warp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₹139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₹139</a:t>
                      </a:r>
                      <a:endParaRPr lang="en-IN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652680" y="47520"/>
            <a:ext cx="9711720" cy="66841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"/>
          <p:cNvPicPr/>
          <p:nvPr/>
        </p:nvPicPr>
        <p:blipFill>
          <a:blip r:embed="rId1"/>
          <a:stretch/>
        </p:blipFill>
        <p:spPr>
          <a:xfrm>
            <a:off x="858960" y="29160"/>
            <a:ext cx="10852560" cy="65912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4114440" y="237960"/>
            <a:ext cx="3327480" cy="56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0"/>
          <p:cNvSpPr/>
          <p:nvPr/>
        </p:nvSpPr>
        <p:spPr>
          <a:xfrm>
            <a:off x="478080" y="653040"/>
            <a:ext cx="110923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Components Used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280" y="1691640"/>
            <a:ext cx="110923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442800" y="160704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1" descr="/home/claude/build/assets/comp_esp32.png"/>
          <p:cNvPicPr/>
          <p:nvPr/>
        </p:nvPicPr>
        <p:blipFill>
          <a:blip r:embed="rId2"/>
          <a:stretch/>
        </p:blipFill>
        <p:spPr>
          <a:xfrm>
            <a:off x="1876320" y="1900800"/>
            <a:ext cx="1216440" cy="154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3"/>
          <p:cNvSpPr/>
          <p:nvPr/>
        </p:nvSpPr>
        <p:spPr>
          <a:xfrm>
            <a:off x="639720" y="370332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ESP32 Development Board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4235760" y="160740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2" descr="/home/claude/build/assets/comp_espcam.png"/>
          <p:cNvPicPr/>
          <p:nvPr/>
        </p:nvPicPr>
        <p:blipFill>
          <a:blip r:embed="rId3"/>
          <a:stretch/>
        </p:blipFill>
        <p:spPr>
          <a:xfrm>
            <a:off x="5280840" y="1736640"/>
            <a:ext cx="1772640" cy="16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5"/>
          <p:cNvSpPr/>
          <p:nvPr/>
        </p:nvSpPr>
        <p:spPr>
          <a:xfrm>
            <a:off x="4444560" y="370332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ESP32-CAM Module (OV2640)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7993800" y="160704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3" descr="/home/claude/build/assets/comp_gpio.png"/>
          <p:cNvPicPr/>
          <p:nvPr/>
        </p:nvPicPr>
        <p:blipFill>
          <a:blip r:embed="rId4"/>
          <a:stretch/>
        </p:blipFill>
        <p:spPr>
          <a:xfrm>
            <a:off x="8504280" y="1725120"/>
            <a:ext cx="1836360" cy="156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7"/>
          <p:cNvSpPr/>
          <p:nvPr/>
        </p:nvSpPr>
        <p:spPr>
          <a:xfrm>
            <a:off x="8249400" y="370332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GPIO Expansion Board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48280" y="448056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4" descr="/home/claude/build/assets/comp_mg996r.png"/>
          <p:cNvPicPr/>
          <p:nvPr/>
        </p:nvPicPr>
        <p:blipFill>
          <a:blip r:embed="rId5"/>
          <a:stretch/>
        </p:blipFill>
        <p:spPr>
          <a:xfrm>
            <a:off x="1714320" y="4645080"/>
            <a:ext cx="115020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9"/>
          <p:cNvSpPr/>
          <p:nvPr/>
        </p:nvSpPr>
        <p:spPr>
          <a:xfrm>
            <a:off x="639720" y="594360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MG996R Servo Motor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4353120" y="448056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1"/>
          <p:cNvSpPr/>
          <p:nvPr/>
        </p:nvSpPr>
        <p:spPr>
          <a:xfrm>
            <a:off x="4444560" y="594360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SG90 Micro Servo Motor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2"/>
          <p:cNvSpPr/>
          <p:nvPr/>
        </p:nvSpPr>
        <p:spPr>
          <a:xfrm>
            <a:off x="8157960" y="448056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6" descr="/home/claude/build/assets/comp_pca9685.png"/>
          <p:cNvPicPr/>
          <p:nvPr/>
        </p:nvPicPr>
        <p:blipFill>
          <a:blip r:embed="rId6"/>
          <a:stretch/>
        </p:blipFill>
        <p:spPr>
          <a:xfrm>
            <a:off x="9240120" y="4645080"/>
            <a:ext cx="13183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13"/>
          <p:cNvSpPr/>
          <p:nvPr/>
        </p:nvSpPr>
        <p:spPr>
          <a:xfrm>
            <a:off x="8249400" y="594360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PCA9685 Servo Driver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4"/>
          <p:cNvSpPr/>
          <p:nvPr/>
        </p:nvSpPr>
        <p:spPr>
          <a:xfrm>
            <a:off x="456840" y="644652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Progressive Development of an Autonomous Omnidirectional Robotic Arm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/>
          <p:cNvPicPr/>
          <p:nvPr/>
        </p:nvPicPr>
        <p:blipFill>
          <a:blip r:embed="rId7"/>
          <a:stretch/>
        </p:blipFill>
        <p:spPr>
          <a:xfrm>
            <a:off x="5423400" y="4518360"/>
            <a:ext cx="1205640" cy="13046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456840" y="320040"/>
            <a:ext cx="2100960" cy="3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0"/>
          <p:cNvSpPr/>
          <p:nvPr/>
        </p:nvSpPr>
        <p:spPr>
          <a:xfrm>
            <a:off x="548280" y="1051560"/>
            <a:ext cx="110923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Components Used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48280" y="224028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1" descr="/home/claude/build/assets/comp_lipo.png"/>
          <p:cNvPicPr/>
          <p:nvPr/>
        </p:nvPicPr>
        <p:blipFill>
          <a:blip r:embed="rId2"/>
          <a:stretch/>
        </p:blipFill>
        <p:spPr>
          <a:xfrm>
            <a:off x="1496160" y="2404800"/>
            <a:ext cx="158688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3"/>
          <p:cNvSpPr/>
          <p:nvPr/>
        </p:nvSpPr>
        <p:spPr>
          <a:xfrm>
            <a:off x="639720" y="370332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3S LiPo Battery (2200mAh)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4353120" y="224028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2" descr="/home/claude/build/assets/comp_charger.png"/>
          <p:cNvPicPr/>
          <p:nvPr/>
        </p:nvPicPr>
        <p:blipFill>
          <a:blip r:embed="rId3"/>
          <a:stretch/>
        </p:blipFill>
        <p:spPr>
          <a:xfrm>
            <a:off x="5457600" y="2404800"/>
            <a:ext cx="12733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5"/>
          <p:cNvSpPr/>
          <p:nvPr/>
        </p:nvSpPr>
        <p:spPr>
          <a:xfrm>
            <a:off x="4444560" y="370332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iMAX B6 Balance Charger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8157960" y="224028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3" descr="/home/claude/build/assets/comp_buck.png"/>
          <p:cNvPicPr/>
          <p:nvPr/>
        </p:nvPicPr>
        <p:blipFill>
          <a:blip r:embed="rId4"/>
          <a:stretch/>
        </p:blipFill>
        <p:spPr>
          <a:xfrm>
            <a:off x="9380880" y="2404800"/>
            <a:ext cx="103680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7"/>
          <p:cNvSpPr/>
          <p:nvPr/>
        </p:nvSpPr>
        <p:spPr>
          <a:xfrm>
            <a:off x="8249400" y="370332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XL4015 Buck Converter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548280" y="448056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4" descr="/home/claude/build/assets/comp_ftdi.png"/>
          <p:cNvPicPr/>
          <p:nvPr/>
        </p:nvPicPr>
        <p:blipFill>
          <a:blip r:embed="rId5"/>
          <a:stretch/>
        </p:blipFill>
        <p:spPr>
          <a:xfrm>
            <a:off x="1292760" y="4645080"/>
            <a:ext cx="199332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9"/>
          <p:cNvSpPr/>
          <p:nvPr/>
        </p:nvSpPr>
        <p:spPr>
          <a:xfrm>
            <a:off x="639720" y="594360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FTDI Programmer (USB-TTL)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4353120" y="448056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5" descr="/home/claude/build/assets/comp_espcamext.png"/>
          <p:cNvPicPr/>
          <p:nvPr/>
        </p:nvPicPr>
        <p:blipFill>
          <a:blip r:embed="rId6"/>
          <a:stretch/>
        </p:blipFill>
        <p:spPr>
          <a:xfrm>
            <a:off x="5400360" y="4645080"/>
            <a:ext cx="138780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 11"/>
          <p:cNvSpPr/>
          <p:nvPr/>
        </p:nvSpPr>
        <p:spPr>
          <a:xfrm>
            <a:off x="4444560" y="594360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ESP32-CAM Extension Board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8157960" y="4480560"/>
            <a:ext cx="3482640" cy="1918080"/>
          </a:xfrm>
          <a:prstGeom prst="roundRect">
            <a:avLst>
              <a:gd name="adj" fmla="val 3810"/>
            </a:avLst>
          </a:prstGeom>
          <a:solidFill>
            <a:srgbClr val="EEF2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6" descr="/home/claude/build/assets/comp_extcables.png"/>
          <p:cNvPicPr/>
          <p:nvPr/>
        </p:nvPicPr>
        <p:blipFill>
          <a:blip r:embed="rId7"/>
          <a:stretch/>
        </p:blipFill>
        <p:spPr>
          <a:xfrm>
            <a:off x="9340200" y="4645080"/>
            <a:ext cx="1117800" cy="114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3"/>
          <p:cNvSpPr/>
          <p:nvPr/>
        </p:nvSpPr>
        <p:spPr>
          <a:xfrm>
            <a:off x="8249400" y="5943600"/>
            <a:ext cx="3299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Servo Extension Cables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456840" y="6446520"/>
            <a:ext cx="7313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Progressive Development of an Autonomous Omnidirectional Robotic Arm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11551320" y="6446520"/>
            <a:ext cx="3636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2"/>
          <p:cNvSpPr/>
          <p:nvPr/>
        </p:nvSpPr>
        <p:spPr>
          <a:xfrm>
            <a:off x="438480" y="365760"/>
            <a:ext cx="2503440" cy="570960"/>
          </a:xfrm>
          <a:prstGeom prst="roundRect">
            <a:avLst>
              <a:gd name="adj" fmla="val 127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Image 0" descr="/home/claude/build/assets/krmu_logo.png"/>
          <p:cNvPicPr/>
          <p:nvPr/>
        </p:nvPicPr>
        <p:blipFill>
          <a:blip r:embed="rId1"/>
          <a:stretch/>
        </p:blipFill>
        <p:spPr>
          <a:xfrm>
            <a:off x="548280" y="457200"/>
            <a:ext cx="228384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 3"/>
          <p:cNvSpPr/>
          <p:nvPr/>
        </p:nvSpPr>
        <p:spPr>
          <a:xfrm>
            <a:off x="548280" y="2651760"/>
            <a:ext cx="731304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Thank You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478080" y="3560400"/>
            <a:ext cx="2926080" cy="360"/>
          </a:xfrm>
          <a:prstGeom prst="line">
            <a:avLst/>
          </a:prstGeom>
          <a:ln w="25400">
            <a:solidFill>
              <a:srgbClr val="E862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2026-09-13T19:37:05Z</dcterms:created>
  <dc:creator>PptxGenJS</dc:creator>
  <dc:description/>
  <dc:language>en-IN</dc:language>
  <cp:lastModifiedBy/>
  <dcterms:modified xsi:type="dcterms:W3CDTF">2026-09-18T22:02:11Z</dcterms:modified>
  <cp:revision>41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