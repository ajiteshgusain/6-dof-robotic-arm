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embeddedFontLst>
    <p:embeddedFont>
      <p:font typeface="Geist Bold"/>
      <p:regular r:id="rId201314"/>
    </p:embeddedFont>
    <p:embeddedFont>
      <p:font typeface="Geist"/>
      <p:regular r:id="rId20131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101620">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jpeg"/><Relationship Id="rId3" Type="http://schemas.openxmlformats.org/officeDocument/2006/relationships/image" Target="../media/image-7-3.jpeg"/><Relationship Id="rId4" Type="http://schemas.openxmlformats.org/officeDocument/2006/relationships/image" Target="../media/image-7-4.jpeg"/><Relationship Id="rId5" Type="http://schemas.openxmlformats.org/officeDocument/2006/relationships/image" Target="../media/image-7-5.jpeg"/><Relationship Id="rId6" Type="http://schemas.openxmlformats.org/officeDocument/2006/relationships/image" Target="../media/image-7-6.jpeg"/><Relationship Id="rId7" Type="http://schemas.openxmlformats.org/officeDocument/2006/relationships/slideLayout" Target="../slideLayouts/slideLayout2.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jpeg"/><Relationship Id="rId3" Type="http://schemas.openxmlformats.org/officeDocument/2006/relationships/image" Target="../media/image-8-3.jpeg"/><Relationship Id="rId4" Type="http://schemas.openxmlformats.org/officeDocument/2006/relationships/image" Target="../media/image-8-4.png"/><Relationship Id="rId5" Type="http://schemas.openxmlformats.org/officeDocument/2006/relationships/image" Target="../media/image-8-5.jpeg"/><Relationship Id="rId6" Type="http://schemas.openxmlformats.org/officeDocument/2006/relationships/image" Target="../media/image-8-6.jpeg"/><Relationship Id="rId7" Type="http://schemas.openxmlformats.org/officeDocument/2006/relationships/slideLayout" Target="../slideLayouts/slideLayout2.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jpeg"/><Relationship Id="rId3" Type="http://schemas.openxmlformats.org/officeDocument/2006/relationships/image" Target="../media/image-9-3.jpeg"/><Relationship Id="rId4" Type="http://schemas.openxmlformats.org/officeDocument/2006/relationships/image" Target="../media/image-9-4.jpeg"/><Relationship Id="rId5" Type="http://schemas.openxmlformats.org/officeDocument/2006/relationships/image" Target="../media/image-9-5.jpeg"/><Relationship Id="rId6" Type="http://schemas.openxmlformats.org/officeDocument/2006/relationships/image" Target="../media/image-9-6.jpeg"/><Relationship Id="rId7" Type="http://schemas.openxmlformats.org/officeDocument/2006/relationships/slideLayout" Target="../slideLayouts/slideLayout2.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stretch>
            <a:fillRect/>
          </a:stretch>
        </p:blipFill>
        <p:spPr>
          <a:xfrm>
            <a:off x="0" y="0"/>
            <a:ext cx="4800480" cy="6858000"/>
          </a:xfrm>
          <a:custGeom>
            <a:avLst/>
            <a:gdLst/>
            <a:ahLst/>
            <a:cxnLst/>
            <a:rect l="0" t="0" r="100000" b="100000"/>
            <a:pathLst>
              <a:path w="100000" h="100000">
                <a:moveTo>
                  <a:pt x="0" y="0"/>
                </a:moveTo>
                <a:lnTo>
                  <a:pt x="90530" y="100"/>
                </a:lnTo>
                <a:lnTo>
                  <a:pt x="93070" y="6350"/>
                </a:lnTo>
                <a:lnTo>
                  <a:pt x="94920" y="12210"/>
                </a:lnTo>
                <a:lnTo>
                  <a:pt x="96680" y="19820"/>
                </a:lnTo>
                <a:lnTo>
                  <a:pt x="97560" y="25880"/>
                </a:lnTo>
                <a:lnTo>
                  <a:pt x="97950" y="30960"/>
                </a:lnTo>
                <a:lnTo>
                  <a:pt x="97950" y="39060"/>
                </a:lnTo>
                <a:lnTo>
                  <a:pt x="97270" y="46480"/>
                </a:lnTo>
                <a:lnTo>
                  <a:pt x="96190" y="52640"/>
                </a:lnTo>
                <a:lnTo>
                  <a:pt x="94730" y="58500"/>
                </a:lnTo>
                <a:lnTo>
                  <a:pt x="92480" y="65230"/>
                </a:lnTo>
                <a:lnTo>
                  <a:pt x="89550" y="72070"/>
                </a:lnTo>
                <a:lnTo>
                  <a:pt x="86820" y="77340"/>
                </a:lnTo>
                <a:lnTo>
                  <a:pt x="83500" y="82810"/>
                </a:lnTo>
                <a:lnTo>
                  <a:pt x="79200" y="88870"/>
                </a:lnTo>
                <a:lnTo>
                  <a:pt x="75880" y="92770"/>
                </a:lnTo>
                <a:lnTo>
                  <a:pt x="75880" y="92970"/>
                </a:lnTo>
                <a:lnTo>
                  <a:pt x="74510" y="94340"/>
                </a:lnTo>
                <a:lnTo>
                  <a:pt x="74510" y="94530"/>
                </a:lnTo>
                <a:lnTo>
                  <a:pt x="69240" y="100000"/>
                </a:lnTo>
                <a:lnTo>
                  <a:pt x="0" y="100000"/>
                </a:lnTo>
                <a:close/>
              </a:path>
            </a:pathLst>
          </a:custGeom>
        </p:spPr>
      </p:pic>
      <p:sp>
        <p:nvSpPr>
          <p:cNvPr id="3" name="Text 0"/>
          <p:cNvSpPr/>
          <p:nvPr/>
        </p:nvSpPr>
        <p:spPr>
          <a:xfrm>
            <a:off x="5233360" y="1846163"/>
            <a:ext cx="6296860" cy="1228527"/>
          </a:xfrm>
          <a:prstGeom prst="rect">
            <a:avLst/>
          </a:prstGeom>
          <a:noFill/>
          <a:ln/>
        </p:spPr>
        <p:txBody>
          <a:bodyPr wrap="square" lIns="0" tIns="0" rIns="0" bIns="0" rtlCol="0" anchor="t">
            <a:normAutofit/>
          </a:bodyPr>
          <a:lstStyle/>
          <a:p>
            <a:pPr algn="l" indent="0" marL="0">
              <a:lnSpc>
                <a:spcPct val="108000"/>
              </a:lnSpc>
              <a:buNone/>
            </a:pPr>
            <a:r>
              <a:rPr lang="en-US" sz="3700" b="1" spc="-74" kern="0" dirty="0">
                <a:solidFill>
                  <a:srgbClr val="F2F5FA"/>
                </a:solidFill>
                <a:latin typeface="Geist Bold" pitchFamily="34" charset="0"/>
                <a:ea typeface="Geist Bold" pitchFamily="34" charset="-122"/>
                <a:cs typeface="Geist Bold" pitchFamily="34" charset="-120"/>
              </a:rPr>
              <a:t>Mobile Intelligent Robotic Arm Interface (MIRAI)</a:t>
            </a:r>
            <a:endParaRPr lang="en-US" sz="3700" dirty="0"/>
          </a:p>
        </p:txBody>
      </p:sp>
      <p:sp>
        <p:nvSpPr>
          <p:cNvPr id="4" name="Text 1"/>
          <p:cNvSpPr/>
          <p:nvPr/>
        </p:nvSpPr>
        <p:spPr>
          <a:xfrm>
            <a:off x="5233360" y="3358158"/>
            <a:ext cx="6296860" cy="1653580"/>
          </a:xfrm>
          <a:prstGeom prst="rect">
            <a:avLst/>
          </a:prstGeom>
          <a:noFill/>
          <a:ln/>
        </p:spPr>
        <p:txBody>
          <a:bodyPr wrap="square" lIns="0" tIns="0" rIns="0" bIns="0" rtlCol="0" anchor="t">
            <a:normAutofit/>
          </a:bodyPr>
          <a:lstStyle/>
          <a:p>
            <a:pPr algn="l" indent="0" marL="0">
              <a:lnSpc>
                <a:spcPct val="108000"/>
              </a:lnSpc>
              <a:spcAft>
                <a:spcPts val="1650"/>
              </a:spcAft>
              <a:buNone/>
            </a:pPr>
            <a:r>
              <a:rPr lang="en-US" sz="1450" dirty="0">
                <a:solidFill>
                  <a:srgbClr val="EBEDF0"/>
                </a:solidFill>
                <a:latin typeface="Geist" pitchFamily="34" charset="0"/>
                <a:ea typeface="Geist" pitchFamily="34" charset="-122"/>
                <a:cs typeface="Geist" pitchFamily="34" charset="-120"/>
              </a:rPr>
              <a:t>Progressive Development of an Autonomous Omnidirectional Robotic Arm</a:t>
            </a:r>
            <a:endParaRPr lang="en-US" sz="1450" dirty="0"/>
          </a:p>
          <a:p>
            <a:pPr algn="l" indent="0" marL="0">
              <a:lnSpc>
                <a:spcPct val="108000"/>
              </a:lnSpc>
              <a:spcAft>
                <a:spcPts val="1650"/>
              </a:spcAft>
              <a:buNone/>
            </a:pPr>
            <a:r>
              <a:rPr lang="en-US" sz="1450" b="1" dirty="0">
                <a:solidFill>
                  <a:srgbClr val="EBEDF0"/>
                </a:solidFill>
                <a:latin typeface="Geist Bold" pitchFamily="34" charset="0"/>
                <a:ea typeface="Geist Bold" pitchFamily="34" charset="-122"/>
                <a:cs typeface="Geist Bold" pitchFamily="34" charset="-120"/>
              </a:rPr>
              <a:t>Team:</a:t>
            </a:r>
            <a:pPr algn="l" indent="0" marL="0">
              <a:lnSpc>
                <a:spcPct val="108000"/>
              </a:lnSpc>
              <a:spcAft>
                <a:spcPts val="1650"/>
              </a:spcAft>
              <a:buNone/>
            </a:pPr>
            <a:r>
              <a:rPr lang="en-US" sz="1450" dirty="0">
                <a:solidFill>
                  <a:srgbClr val="EBEDF0"/>
                </a:solidFill>
                <a:latin typeface="Geist" pitchFamily="34" charset="0"/>
                <a:ea typeface="Geist" pitchFamily="34" charset="-122"/>
                <a:cs typeface="Geist" pitchFamily="34" charset="-120"/>
              </a:rPr>
              <a:t> Livity Labs</a:t>
            </a:r>
            <a:endParaRPr lang="en-US" sz="1450" dirty="0"/>
          </a:p>
          <a:p>
            <a:pPr algn="l" indent="0" marL="0">
              <a:lnSpc>
                <a:spcPct val="108000"/>
              </a:lnSpc>
              <a:buNone/>
            </a:pPr>
            <a:r>
              <a:rPr lang="en-US" sz="1450" b="1" dirty="0">
                <a:solidFill>
                  <a:srgbClr val="EBEDF0"/>
                </a:solidFill>
                <a:latin typeface="Geist Bold" pitchFamily="34" charset="0"/>
                <a:ea typeface="Geist Bold" pitchFamily="34" charset="-122"/>
                <a:cs typeface="Geist Bold" pitchFamily="34" charset="-120"/>
              </a:rPr>
              <a:t>Mentor:</a:t>
            </a:r>
            <a:pPr algn="l" indent="0" marL="0">
              <a:lnSpc>
                <a:spcPct val="108000"/>
              </a:lnSpc>
              <a:buNone/>
            </a:pPr>
            <a:r>
              <a:rPr lang="en-US" sz="1450" dirty="0">
                <a:solidFill>
                  <a:srgbClr val="EBEDF0"/>
                </a:solidFill>
                <a:latin typeface="Geist" pitchFamily="34" charset="0"/>
                <a:ea typeface="Geist" pitchFamily="34" charset="-122"/>
                <a:cs typeface="Geist" pitchFamily="34" charset="-120"/>
              </a:rPr>
              <a:t> Dr. Kishore Ayyala Ajay Kumar—K.R. Mangalam University, School of Engineering &amp; Technology</a:t>
            </a:r>
            <a:endParaRPr lang="en-US" sz="1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5" y="1347788"/>
            <a:ext cx="10868745" cy="614263"/>
          </a:xfrm>
          <a:prstGeom prst="rect">
            <a:avLst/>
          </a:prstGeom>
          <a:noFill/>
          <a:ln/>
        </p:spPr>
        <p:txBody>
          <a:bodyPr wrap="none" lIns="0" tIns="0" rIns="0" bIns="0" rtlCol="0" anchor="t"/>
          <a:lstStyle/>
          <a:p>
            <a:pPr algn="l" indent="0" marL="0">
              <a:lnSpc>
                <a:spcPct val="108000"/>
              </a:lnSpc>
              <a:buNone/>
            </a:pPr>
            <a:r>
              <a:rPr lang="en-US" sz="3700" b="1" spc="-74" kern="0" dirty="0">
                <a:solidFill>
                  <a:srgbClr val="F2F5FA"/>
                </a:solidFill>
                <a:latin typeface="Geist Bold" pitchFamily="34" charset="0"/>
                <a:ea typeface="Geist Bold" pitchFamily="34" charset="-122"/>
                <a:cs typeface="Geist Bold" pitchFamily="34" charset="-120"/>
              </a:rPr>
              <a:t>Problem Statement &amp; Goal</a:t>
            </a:r>
            <a:endParaRPr lang="en-US" sz="3700" dirty="0"/>
          </a:p>
        </p:txBody>
      </p:sp>
      <p:sp>
        <p:nvSpPr>
          <p:cNvPr id="3" name="Shape 1"/>
          <p:cNvSpPr/>
          <p:nvPr/>
        </p:nvSpPr>
        <p:spPr>
          <a:xfrm>
            <a:off x="525350" y="2245519"/>
            <a:ext cx="5476043" cy="3264595"/>
          </a:xfrm>
          <a:prstGeom prst="roundRect">
            <a:avLst>
              <a:gd name="adj" fmla="val 4169"/>
            </a:avLst>
          </a:prstGeom>
          <a:solidFill>
            <a:srgbClr val="1F2A5D">
              <a:alpha val="95000"/>
            </a:srgbClr>
          </a:solidFill>
          <a:ln/>
        </p:spPr>
      </p:sp>
      <p:sp>
        <p:nvSpPr>
          <p:cNvPr id="4" name="Text 2"/>
          <p:cNvSpPr/>
          <p:nvPr/>
        </p:nvSpPr>
        <p:spPr>
          <a:xfrm>
            <a:off x="714357" y="2434530"/>
            <a:ext cx="5098029" cy="307082"/>
          </a:xfrm>
          <a:prstGeom prst="rect">
            <a:avLst/>
          </a:prstGeom>
          <a:noFill/>
          <a:ln/>
        </p:spPr>
        <p:txBody>
          <a:bodyPr wrap="none" lIns="0" tIns="0" rIns="0" bIns="0" rtlCol="0" anchor="t"/>
          <a:lstStyle/>
          <a:p>
            <a:pPr algn="l" indent="0" marL="0">
              <a:lnSpc>
                <a:spcPct val="108000"/>
              </a:lnSpc>
              <a:buNone/>
            </a:pPr>
            <a:r>
              <a:rPr lang="en-US" sz="1850" b="1" spc="-37" kern="0" dirty="0">
                <a:solidFill>
                  <a:srgbClr val="F2F5FA"/>
                </a:solidFill>
                <a:latin typeface="Geist Bold" pitchFamily="34" charset="0"/>
                <a:ea typeface="Geist Bold" pitchFamily="34" charset="-122"/>
                <a:cs typeface="Geist Bold" pitchFamily="34" charset="-120"/>
              </a:rPr>
              <a:t>The Problem</a:t>
            </a:r>
            <a:endParaRPr lang="en-US" sz="1850" dirty="0"/>
          </a:p>
        </p:txBody>
      </p:sp>
      <p:sp>
        <p:nvSpPr>
          <p:cNvPr id="5" name="Text 3"/>
          <p:cNvSpPr/>
          <p:nvPr/>
        </p:nvSpPr>
        <p:spPr>
          <a:xfrm>
            <a:off x="714357" y="2930624"/>
            <a:ext cx="5098029" cy="1473994"/>
          </a:xfrm>
          <a:prstGeom prst="rect">
            <a:avLst/>
          </a:prstGeom>
          <a:noFill/>
          <a:ln/>
        </p:spPr>
        <p:txBody>
          <a:bodyPr wrap="square" lIns="0" tIns="0" rIns="0" bIns="0" rtlCol="0" anchor="t">
            <a:normAutofit/>
          </a:bodyPr>
          <a:lstStyle/>
          <a:p>
            <a:pPr algn="l" indent="0" marL="0">
              <a:lnSpc>
                <a:spcPct val="108000"/>
              </a:lnSpc>
              <a:buNone/>
            </a:pPr>
            <a:r>
              <a:rPr lang="en-US" sz="1450" dirty="0">
                <a:solidFill>
                  <a:srgbClr val="EBEDF0"/>
                </a:solidFill>
                <a:latin typeface="Geist" pitchFamily="34" charset="0"/>
                <a:ea typeface="Geist" pitchFamily="34" charset="-122"/>
                <a:cs typeface="Geist" pitchFamily="34" charset="-120"/>
              </a:rPr>
              <a:t>Most low-cost robotic arms are either fully manual or attempt full autonomy in one leap — making them hard to validate, debug, and defend as a working system. There is no gradual, testable pathway from a simple manipulator to an autonomous mobile robot that a student team can realistically build stage by stage.</a:t>
            </a:r>
            <a:endParaRPr lang="en-US" sz="1450" dirty="0"/>
          </a:p>
        </p:txBody>
      </p:sp>
      <p:sp>
        <p:nvSpPr>
          <p:cNvPr id="6" name="Text 4"/>
          <p:cNvSpPr/>
          <p:nvPr/>
        </p:nvSpPr>
        <p:spPr>
          <a:xfrm>
            <a:off x="6332776" y="2434530"/>
            <a:ext cx="5203794" cy="307082"/>
          </a:xfrm>
          <a:prstGeom prst="rect">
            <a:avLst/>
          </a:prstGeom>
          <a:noFill/>
          <a:ln/>
        </p:spPr>
        <p:txBody>
          <a:bodyPr wrap="none" lIns="0" tIns="0" rIns="0" bIns="0" rtlCol="0" anchor="t"/>
          <a:lstStyle/>
          <a:p>
            <a:pPr algn="l" indent="0" marL="0">
              <a:lnSpc>
                <a:spcPct val="108000"/>
              </a:lnSpc>
              <a:buNone/>
            </a:pPr>
            <a:r>
              <a:rPr lang="en-US" sz="1850" b="1" spc="-37" kern="0" dirty="0">
                <a:solidFill>
                  <a:srgbClr val="F2F5FA"/>
                </a:solidFill>
                <a:latin typeface="Geist Bold" pitchFamily="34" charset="0"/>
                <a:ea typeface="Geist Bold" pitchFamily="34" charset="-122"/>
                <a:cs typeface="Geist Bold" pitchFamily="34" charset="-120"/>
              </a:rPr>
              <a:t>Our Goal</a:t>
            </a:r>
            <a:endParaRPr lang="en-US" sz="1850" dirty="0"/>
          </a:p>
        </p:txBody>
      </p:sp>
      <p:sp>
        <p:nvSpPr>
          <p:cNvPr id="7" name="Text 5"/>
          <p:cNvSpPr/>
          <p:nvPr/>
        </p:nvSpPr>
        <p:spPr>
          <a:xfrm>
            <a:off x="6332776" y="2930624"/>
            <a:ext cx="5203794" cy="982663"/>
          </a:xfrm>
          <a:prstGeom prst="rect">
            <a:avLst/>
          </a:prstGeom>
          <a:noFill/>
          <a:ln/>
        </p:spPr>
        <p:txBody>
          <a:bodyPr wrap="square" lIns="0" tIns="0" rIns="0" bIns="0" rtlCol="0" anchor="t">
            <a:normAutofit/>
          </a:bodyPr>
          <a:lstStyle/>
          <a:p>
            <a:pPr algn="l" indent="0" marL="0">
              <a:lnSpc>
                <a:spcPct val="108000"/>
              </a:lnSpc>
              <a:buNone/>
            </a:pPr>
            <a:r>
              <a:rPr lang="en-US" sz="1450" dirty="0">
                <a:solidFill>
                  <a:srgbClr val="EBEDF0"/>
                </a:solidFill>
                <a:latin typeface="Geist" pitchFamily="34" charset="0"/>
                <a:ea typeface="Geist" pitchFamily="34" charset="-122"/>
                <a:cs typeface="Geist" pitchFamily="34" charset="-120"/>
              </a:rPr>
              <a:t>Develop a </a:t>
            </a:r>
            <a:pPr algn="l" indent="0" marL="0">
              <a:lnSpc>
                <a:spcPct val="108000"/>
              </a:lnSpc>
              <a:buNone/>
            </a:pPr>
            <a:r>
              <a:rPr lang="en-US" sz="1450" b="1" dirty="0">
                <a:solidFill>
                  <a:srgbClr val="EBEDF0"/>
                </a:solidFill>
                <a:latin typeface="Geist Bold" pitchFamily="34" charset="0"/>
                <a:ea typeface="Geist Bold" pitchFamily="34" charset="-122"/>
                <a:cs typeface="Geist Bold" pitchFamily="34" charset="-120"/>
              </a:rPr>
              <a:t>6-DOF robotic arm</a:t>
            </a:r>
            <a:pPr algn="l" indent="0" marL="0">
              <a:lnSpc>
                <a:spcPct val="108000"/>
              </a:lnSpc>
              <a:buNone/>
            </a:pPr>
            <a:r>
              <a:rPr lang="en-US" sz="1450" dirty="0">
                <a:solidFill>
                  <a:srgbClr val="EBEDF0"/>
                </a:solidFill>
                <a:latin typeface="Geist" pitchFamily="34" charset="0"/>
                <a:ea typeface="Geist" pitchFamily="34" charset="-122"/>
                <a:cs typeface="Geist" pitchFamily="34" charset="-120"/>
              </a:rPr>
              <a:t> mounted on an omnidirectional mobile platform that evolves across three clearly defined stages — from a manually controlled manipulator into a fully autonomous pick-and-place robot.</a:t>
            </a:r>
            <a:endParaRPr lang="en-US" sz="1450" dirty="0"/>
          </a:p>
        </p:txBody>
      </p:sp>
      <p:sp>
        <p:nvSpPr>
          <p:cNvPr id="8" name="Shape 6"/>
          <p:cNvSpPr/>
          <p:nvPr/>
        </p:nvSpPr>
        <p:spPr>
          <a:xfrm>
            <a:off x="6332776" y="4125913"/>
            <a:ext cx="5203794" cy="1171575"/>
          </a:xfrm>
          <a:prstGeom prst="roundRect">
            <a:avLst>
              <a:gd name="adj" fmla="val 6776"/>
            </a:avLst>
          </a:prstGeom>
          <a:solidFill>
            <a:srgbClr val="002A80"/>
          </a:solidFill>
          <a:ln/>
        </p:spPr>
      </p:sp>
      <p:pic>
        <p:nvPicPr>
          <p:cNvPr id="9" name="Image 0" descr="preencoded.png">    </p:cNvPr>
          <p:cNvPicPr>
            <a:picLocks noChangeAspect="1"/>
          </p:cNvPicPr>
          <p:nvPr/>
        </p:nvPicPr>
        <p:blipFill>
          <a:blip r:embed="rId1"/>
          <a:stretch>
            <a:fillRect/>
          </a:stretch>
        </p:blipFill>
        <p:spPr>
          <a:xfrm>
            <a:off x="6521783" y="4380905"/>
            <a:ext cx="236234" cy="189012"/>
          </a:xfrm>
          <a:prstGeom prst="rect">
            <a:avLst/>
          </a:prstGeom>
        </p:spPr>
      </p:pic>
      <p:sp>
        <p:nvSpPr>
          <p:cNvPr id="10" name="Text 7"/>
          <p:cNvSpPr/>
          <p:nvPr/>
        </p:nvSpPr>
        <p:spPr>
          <a:xfrm>
            <a:off x="6947024" y="4343202"/>
            <a:ext cx="4400539" cy="736997"/>
          </a:xfrm>
          <a:prstGeom prst="rect">
            <a:avLst/>
          </a:prstGeom>
          <a:noFill/>
          <a:ln/>
        </p:spPr>
        <p:txBody>
          <a:bodyPr wrap="square" lIns="0" tIns="0" rIns="0" bIns="0" rtlCol="0" anchor="t">
            <a:normAutofit/>
          </a:bodyPr>
          <a:lstStyle/>
          <a:p>
            <a:pPr algn="l" indent="0" marL="0">
              <a:lnSpc>
                <a:spcPct val="108000"/>
              </a:lnSpc>
              <a:buNone/>
            </a:pPr>
            <a:r>
              <a:rPr lang="en-US" sz="1450" b="1" dirty="0">
                <a:solidFill>
                  <a:srgbClr val="FFFFFF"/>
                </a:solidFill>
                <a:latin typeface="Geist Bold" pitchFamily="34" charset="0"/>
                <a:ea typeface="Geist Bold" pitchFamily="34" charset="-122"/>
                <a:cs typeface="Geist Bold" pitchFamily="34" charset="-120"/>
              </a:rPr>
              <a:t>Current focus: Stage 1</a:t>
            </a:r>
            <a:pPr algn="l" indent="0" marL="0">
              <a:lnSpc>
                <a:spcPct val="108000"/>
              </a:lnSpc>
              <a:buNone/>
            </a:pPr>
            <a:r>
              <a:rPr lang="en-US" sz="1450" dirty="0">
                <a:solidFill>
                  <a:srgbClr val="FFFFFF"/>
                </a:solidFill>
                <a:latin typeface="Geist" pitchFamily="34" charset="0"/>
                <a:ea typeface="Geist" pitchFamily="34" charset="-122"/>
                <a:cs typeface="Geist" pitchFamily="34" charset="-120"/>
              </a:rPr>
              <a:t> — proving the arm can physically perform accurate manipulation before adding mobility or autonomy.</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541834"/>
            <a:ext cx="10868745" cy="522089"/>
          </a:xfrm>
          <a:prstGeom prst="rect">
            <a:avLst/>
          </a:prstGeom>
          <a:noFill/>
          <a:ln/>
        </p:spPr>
        <p:txBody>
          <a:bodyPr wrap="none" lIns="0" tIns="0" rIns="0" bIns="0" rtlCol="0" anchor="t"/>
          <a:lstStyle/>
          <a:p>
            <a:pPr algn="l" indent="0" marL="0">
              <a:lnSpc>
                <a:spcPct val="108000"/>
              </a:lnSpc>
              <a:buNone/>
            </a:pPr>
            <a:r>
              <a:rPr lang="en-US" sz="3150" b="1" spc="-63" kern="0" dirty="0">
                <a:solidFill>
                  <a:srgbClr val="F2F5FA"/>
                </a:solidFill>
                <a:latin typeface="Geist Bold" pitchFamily="34" charset="0"/>
                <a:ea typeface="Geist Bold" pitchFamily="34" charset="-122"/>
                <a:cs typeface="Geist Bold" pitchFamily="34" charset="-120"/>
              </a:rPr>
              <a:t>Project Development Pipeline</a:t>
            </a:r>
            <a:endParaRPr lang="en-US" sz="3150" dirty="0"/>
          </a:p>
        </p:txBody>
      </p:sp>
      <p:sp>
        <p:nvSpPr>
          <p:cNvPr id="3" name="Text 1"/>
          <p:cNvSpPr/>
          <p:nvPr/>
        </p:nvSpPr>
        <p:spPr>
          <a:xfrm>
            <a:off x="661475" y="1336973"/>
            <a:ext cx="10868745" cy="386159"/>
          </a:xfrm>
          <a:prstGeom prst="rect">
            <a:avLst/>
          </a:prstGeom>
          <a:noFill/>
          <a:ln/>
        </p:spPr>
        <p:txBody>
          <a:bodyPr wrap="square" lIns="0" tIns="0" rIns="0" bIns="0" rtlCol="0" anchor="t">
            <a:normAutofit/>
          </a:bodyPr>
          <a:lstStyle/>
          <a:p>
            <a:pPr algn="l" indent="0" marL="0">
              <a:lnSpc>
                <a:spcPct val="100000"/>
              </a:lnSpc>
              <a:buNone/>
            </a:pPr>
            <a:r>
              <a:rPr lang="en-US" sz="1250" dirty="0">
                <a:solidFill>
                  <a:srgbClr val="EBEDF0"/>
                </a:solidFill>
                <a:latin typeface="Geist" pitchFamily="34" charset="0"/>
                <a:ea typeface="Geist" pitchFamily="34" charset="-122"/>
                <a:cs typeface="Geist" pitchFamily="34" charset="-120"/>
              </a:rPr>
              <a:t>Three progressive stages — each validates one capability before the next is added. This staged approach ensures every subsystem is proven and debuggable before complexity increases.</a:t>
            </a:r>
            <a:endParaRPr lang="en-US" sz="1250" dirty="0"/>
          </a:p>
        </p:txBody>
      </p:sp>
      <p:pic>
        <p:nvPicPr>
          <p:cNvPr id="4" name="Image 0" descr="preencoded.png">    </p:cNvPr>
          <p:cNvPicPr>
            <a:picLocks noChangeAspect="1"/>
          </p:cNvPicPr>
          <p:nvPr/>
        </p:nvPicPr>
        <p:blipFill>
          <a:blip r:embed="rId1"/>
          <a:stretch>
            <a:fillRect/>
          </a:stretch>
        </p:blipFill>
        <p:spPr>
          <a:xfrm>
            <a:off x="3575953" y="1876723"/>
            <a:ext cx="5039790" cy="4092773"/>
          </a:xfrm>
          <a:prstGeom prst="rect">
            <a:avLst/>
          </a:prstGeom>
        </p:spPr>
      </p:pic>
      <p:sp>
        <p:nvSpPr>
          <p:cNvPr id="5" name="Text 2"/>
          <p:cNvSpPr/>
          <p:nvPr/>
        </p:nvSpPr>
        <p:spPr>
          <a:xfrm>
            <a:off x="3743614" y="4706526"/>
            <a:ext cx="1394988" cy="540456"/>
          </a:xfrm>
          <a:prstGeom prst="rect">
            <a:avLst/>
          </a:prstGeom>
          <a:noFill/>
          <a:ln/>
        </p:spPr>
        <p:txBody>
          <a:bodyPr wrap="square" lIns="0" tIns="0" rIns="0" bIns="0" rtlCol="0" anchor="t">
            <a:normAutofit/>
          </a:bodyPr>
          <a:lstStyle/>
          <a:p>
            <a:pPr algn="ctr" indent="0" marL="0">
              <a:lnSpc>
                <a:spcPct val="108000"/>
              </a:lnSpc>
              <a:buNone/>
            </a:pPr>
            <a:r>
              <a:rPr lang="en-US" sz="1600" b="1" spc="-33" kern="0" dirty="0">
                <a:solidFill>
                  <a:srgbClr val="000000"/>
                </a:solidFill>
                <a:latin typeface="Geist Bold" pitchFamily="34" charset="0"/>
                <a:ea typeface="Geist Bold" pitchFamily="34" charset="-122"/>
                <a:cs typeface="Geist Bold" pitchFamily="34" charset="-120"/>
              </a:rPr>
              <a:t>Fixed Robotic Arm</a:t>
            </a:r>
            <a:endParaRPr lang="en-US" sz="1600" dirty="0"/>
          </a:p>
        </p:txBody>
      </p:sp>
      <p:sp>
        <p:nvSpPr>
          <p:cNvPr id="6" name="Text 3"/>
          <p:cNvSpPr/>
          <p:nvPr/>
        </p:nvSpPr>
        <p:spPr>
          <a:xfrm>
            <a:off x="5406658" y="4146438"/>
            <a:ext cx="1358034" cy="810684"/>
          </a:xfrm>
          <a:prstGeom prst="rect">
            <a:avLst/>
          </a:prstGeom>
          <a:noFill/>
          <a:ln/>
        </p:spPr>
        <p:txBody>
          <a:bodyPr wrap="square" lIns="0" tIns="0" rIns="0" bIns="0" rtlCol="0" anchor="t">
            <a:normAutofit/>
          </a:bodyPr>
          <a:lstStyle/>
          <a:p>
            <a:pPr algn="ctr" indent="0" marL="0">
              <a:lnSpc>
                <a:spcPct val="108000"/>
              </a:lnSpc>
              <a:buNone/>
            </a:pPr>
            <a:r>
              <a:rPr lang="en-US" sz="1600" b="1" spc="-33" kern="0" dirty="0">
                <a:solidFill>
                  <a:srgbClr val="000000"/>
                </a:solidFill>
                <a:latin typeface="Geist Bold" pitchFamily="34" charset="0"/>
                <a:ea typeface="Geist Bold" pitchFamily="34" charset="-122"/>
                <a:cs typeface="Geist Bold" pitchFamily="34" charset="-120"/>
              </a:rPr>
              <a:t>Mobile Omnidirectional Arm</a:t>
            </a:r>
            <a:endParaRPr lang="en-US" sz="1600" dirty="0"/>
          </a:p>
        </p:txBody>
      </p:sp>
      <p:sp>
        <p:nvSpPr>
          <p:cNvPr id="7" name="Text 4"/>
          <p:cNvSpPr/>
          <p:nvPr/>
        </p:nvSpPr>
        <p:spPr>
          <a:xfrm>
            <a:off x="7041842" y="3712225"/>
            <a:ext cx="1394988" cy="810684"/>
          </a:xfrm>
          <a:prstGeom prst="rect">
            <a:avLst/>
          </a:prstGeom>
          <a:noFill/>
          <a:ln/>
        </p:spPr>
        <p:txBody>
          <a:bodyPr wrap="square" lIns="0" tIns="0" rIns="0" bIns="0" rtlCol="0" anchor="t">
            <a:normAutofit/>
          </a:bodyPr>
          <a:lstStyle/>
          <a:p>
            <a:pPr algn="ctr" indent="0" marL="0">
              <a:lnSpc>
                <a:spcPct val="108000"/>
              </a:lnSpc>
              <a:buNone/>
            </a:pPr>
            <a:r>
              <a:rPr lang="en-US" sz="1600" b="1" spc="-33" kern="0" dirty="0">
                <a:solidFill>
                  <a:srgbClr val="000000"/>
                </a:solidFill>
                <a:latin typeface="Geist Bold" pitchFamily="34" charset="0"/>
                <a:ea typeface="Geist Bold" pitchFamily="34" charset="-122"/>
                <a:cs typeface="Geist Bold" pitchFamily="34" charset="-120"/>
              </a:rPr>
              <a:t>Autonomous Mobile Manipulator</a:t>
            </a:r>
            <a:endParaRPr lang="en-US" sz="1600" dirty="0"/>
          </a:p>
        </p:txBody>
      </p:sp>
      <p:sp>
        <p:nvSpPr>
          <p:cNvPr id="8" name="Text 5"/>
          <p:cNvSpPr/>
          <p:nvPr/>
        </p:nvSpPr>
        <p:spPr>
          <a:xfrm>
            <a:off x="661475" y="6123087"/>
            <a:ext cx="11478330" cy="193080"/>
          </a:xfrm>
          <a:prstGeom prst="rect">
            <a:avLst/>
          </a:prstGeom>
          <a:noFill/>
          <a:ln/>
        </p:spPr>
        <p:txBody>
          <a:bodyPr wrap="none" lIns="0" tIns="0" rIns="0" bIns="0" rtlCol="0" anchor="t"/>
          <a:lstStyle/>
          <a:p>
            <a:pPr algn="l" indent="0" marL="0">
              <a:lnSpc>
                <a:spcPct val="100000"/>
              </a:lnSpc>
              <a:buNone/>
            </a:pPr>
            <a:r>
              <a:rPr lang="en-US" sz="1250" dirty="0">
                <a:solidFill>
                  <a:srgbClr val="EBEDF0"/>
                </a:solidFill>
                <a:latin typeface="Geist" pitchFamily="34" charset="0"/>
                <a:ea typeface="Geist" pitchFamily="34" charset="-122"/>
                <a:cs typeface="Geist" pitchFamily="34" charset="-120"/>
              </a:rPr>
              <a:t>Each stage builds on the last, creating a verifiable, incremental path from a basic manipulator to a fully autonomous mobile robot.</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stretch>
            <a:fillRect/>
          </a:stretch>
        </p:blipFill>
        <p:spPr>
          <a:xfrm>
            <a:off x="7391215" y="0"/>
            <a:ext cx="4800480" cy="6858000"/>
          </a:xfrm>
          <a:custGeom>
            <a:avLst/>
            <a:gdLst/>
            <a:ahLst/>
            <a:cxnLst/>
            <a:rect l="0" t="0" r="100000" b="100000"/>
            <a:pathLst>
              <a:path w="100000" h="100000">
                <a:moveTo>
                  <a:pt x="9570" y="0"/>
                </a:moveTo>
                <a:lnTo>
                  <a:pt x="100000" y="0"/>
                </a:lnTo>
                <a:lnTo>
                  <a:pt x="100000" y="100000"/>
                </a:lnTo>
                <a:lnTo>
                  <a:pt x="30760" y="100000"/>
                </a:lnTo>
                <a:lnTo>
                  <a:pt x="26370" y="95510"/>
                </a:lnTo>
                <a:lnTo>
                  <a:pt x="26370" y="95310"/>
                </a:lnTo>
                <a:lnTo>
                  <a:pt x="25490" y="94530"/>
                </a:lnTo>
                <a:lnTo>
                  <a:pt x="25490" y="94340"/>
                </a:lnTo>
                <a:lnTo>
                  <a:pt x="22660" y="91210"/>
                </a:lnTo>
                <a:lnTo>
                  <a:pt x="18360" y="85550"/>
                </a:lnTo>
                <a:lnTo>
                  <a:pt x="15140" y="80660"/>
                </a:lnTo>
                <a:lnTo>
                  <a:pt x="11910" y="75000"/>
                </a:lnTo>
                <a:lnTo>
                  <a:pt x="9280" y="69530"/>
                </a:lnTo>
                <a:lnTo>
                  <a:pt x="6840" y="63380"/>
                </a:lnTo>
                <a:lnTo>
                  <a:pt x="4790" y="56740"/>
                </a:lnTo>
                <a:lnTo>
                  <a:pt x="3320" y="50200"/>
                </a:lnTo>
                <a:lnTo>
                  <a:pt x="2440" y="44140"/>
                </a:lnTo>
                <a:lnTo>
                  <a:pt x="2050" y="39060"/>
                </a:lnTo>
                <a:lnTo>
                  <a:pt x="2050" y="30860"/>
                </a:lnTo>
                <a:lnTo>
                  <a:pt x="2540" y="25000"/>
                </a:lnTo>
                <a:lnTo>
                  <a:pt x="3320" y="19820"/>
                </a:lnTo>
                <a:lnTo>
                  <a:pt x="4880" y="12890"/>
                </a:lnTo>
                <a:lnTo>
                  <a:pt x="6930" y="6350"/>
                </a:lnTo>
                <a:close/>
              </a:path>
            </a:pathLst>
          </a:custGeom>
        </p:spPr>
      </p:pic>
      <p:sp>
        <p:nvSpPr>
          <p:cNvPr id="3" name="Text 0"/>
          <p:cNvSpPr/>
          <p:nvPr/>
        </p:nvSpPr>
        <p:spPr>
          <a:xfrm>
            <a:off x="661475" y="1066304"/>
            <a:ext cx="6296860" cy="614263"/>
          </a:xfrm>
          <a:prstGeom prst="rect">
            <a:avLst/>
          </a:prstGeom>
          <a:noFill/>
          <a:ln/>
        </p:spPr>
        <p:txBody>
          <a:bodyPr wrap="none" lIns="0" tIns="0" rIns="0" bIns="0" rtlCol="0" anchor="t"/>
          <a:lstStyle/>
          <a:p>
            <a:pPr algn="l" indent="0" marL="0">
              <a:lnSpc>
                <a:spcPct val="108000"/>
              </a:lnSpc>
              <a:buNone/>
            </a:pPr>
            <a:r>
              <a:rPr lang="en-US" sz="3700" b="1" spc="-74" kern="0" dirty="0">
                <a:solidFill>
                  <a:srgbClr val="F2F5FA"/>
                </a:solidFill>
                <a:latin typeface="Geist Bold" pitchFamily="34" charset="0"/>
                <a:ea typeface="Geist Bold" pitchFamily="34" charset="-122"/>
                <a:cs typeface="Geist Bold" pitchFamily="34" charset="-120"/>
              </a:rPr>
              <a:t>Stage 1 — Fixed Robotic Arm</a:t>
            </a:r>
            <a:endParaRPr lang="en-US" sz="3700" dirty="0"/>
          </a:p>
        </p:txBody>
      </p:sp>
      <p:sp>
        <p:nvSpPr>
          <p:cNvPr id="4" name="Shape 1"/>
          <p:cNvSpPr/>
          <p:nvPr/>
        </p:nvSpPr>
        <p:spPr>
          <a:xfrm>
            <a:off x="661475" y="1964035"/>
            <a:ext cx="3053877" cy="2064941"/>
          </a:xfrm>
          <a:prstGeom prst="roundRect">
            <a:avLst>
              <a:gd name="adj" fmla="val 3845"/>
            </a:avLst>
          </a:prstGeom>
          <a:solidFill>
            <a:srgbClr val="101620"/>
          </a:solidFill>
          <a:ln w="19050">
            <a:solidFill>
              <a:srgbClr val="002A80"/>
            </a:solidFill>
            <a:prstDash val="solid"/>
          </a:ln>
        </p:spPr>
      </p:sp>
      <p:sp>
        <p:nvSpPr>
          <p:cNvPr id="5" name="Text 2"/>
          <p:cNvSpPr/>
          <p:nvPr/>
        </p:nvSpPr>
        <p:spPr>
          <a:xfrm>
            <a:off x="869531" y="2172097"/>
            <a:ext cx="2637764" cy="307082"/>
          </a:xfrm>
          <a:prstGeom prst="rect">
            <a:avLst/>
          </a:prstGeom>
          <a:noFill/>
          <a:ln/>
        </p:spPr>
        <p:txBody>
          <a:bodyPr wrap="none" lIns="0" tIns="0" rIns="0" bIns="0" rtlCol="0" anchor="t"/>
          <a:lstStyle/>
          <a:p>
            <a:pPr algn="l" indent="0" marL="0">
              <a:lnSpc>
                <a:spcPct val="108000"/>
              </a:lnSpc>
              <a:buNone/>
            </a:pPr>
            <a:r>
              <a:rPr lang="en-US" sz="1850" b="1" spc="-37" kern="0" dirty="0">
                <a:solidFill>
                  <a:srgbClr val="EBEDF0"/>
                </a:solidFill>
                <a:latin typeface="Geist Bold" pitchFamily="34" charset="0"/>
                <a:ea typeface="Geist Bold" pitchFamily="34" charset="-122"/>
                <a:cs typeface="Geist Bold" pitchFamily="34" charset="-120"/>
              </a:rPr>
              <a:t>Objective</a:t>
            </a:r>
            <a:endParaRPr lang="en-US" sz="1850" dirty="0"/>
          </a:p>
        </p:txBody>
      </p:sp>
      <p:sp>
        <p:nvSpPr>
          <p:cNvPr id="6" name="Text 3"/>
          <p:cNvSpPr/>
          <p:nvPr/>
        </p:nvSpPr>
        <p:spPr>
          <a:xfrm>
            <a:off x="869531" y="2592586"/>
            <a:ext cx="2637764" cy="1228328"/>
          </a:xfrm>
          <a:prstGeom prst="rect">
            <a:avLst/>
          </a:prstGeom>
          <a:noFill/>
          <a:ln/>
        </p:spPr>
        <p:txBody>
          <a:bodyPr wrap="square" lIns="0" tIns="0" rIns="0" bIns="0" rtlCol="0" anchor="t">
            <a:normAutofit/>
          </a:bodyPr>
          <a:lstStyle/>
          <a:p>
            <a:pPr algn="l" indent="0" marL="0">
              <a:lnSpc>
                <a:spcPct val="108000"/>
              </a:lnSpc>
              <a:buNone/>
            </a:pPr>
            <a:r>
              <a:rPr lang="en-US" sz="1450" dirty="0">
                <a:solidFill>
                  <a:srgbClr val="EBEDF0"/>
                </a:solidFill>
                <a:latin typeface="Geist" pitchFamily="34" charset="0"/>
                <a:ea typeface="Geist" pitchFamily="34" charset="-122"/>
                <a:cs typeface="Geist" pitchFamily="34" charset="-120"/>
              </a:rPr>
              <a:t>Build and validate the 6-DOF robotic arm as a stationary manipulator before introducing mobility or autonomy.</a:t>
            </a:r>
            <a:endParaRPr lang="en-US" sz="1450" dirty="0"/>
          </a:p>
        </p:txBody>
      </p:sp>
      <p:sp>
        <p:nvSpPr>
          <p:cNvPr id="7" name="Shape 4"/>
          <p:cNvSpPr/>
          <p:nvPr/>
        </p:nvSpPr>
        <p:spPr>
          <a:xfrm>
            <a:off x="3904359" y="1964035"/>
            <a:ext cx="3053976" cy="2064941"/>
          </a:xfrm>
          <a:prstGeom prst="roundRect">
            <a:avLst>
              <a:gd name="adj" fmla="val 3845"/>
            </a:avLst>
          </a:prstGeom>
          <a:solidFill>
            <a:srgbClr val="101620"/>
          </a:solidFill>
          <a:ln w="19050">
            <a:solidFill>
              <a:srgbClr val="002A80"/>
            </a:solidFill>
            <a:prstDash val="solid"/>
          </a:ln>
        </p:spPr>
      </p:sp>
      <p:sp>
        <p:nvSpPr>
          <p:cNvPr id="8" name="Text 5"/>
          <p:cNvSpPr/>
          <p:nvPr/>
        </p:nvSpPr>
        <p:spPr>
          <a:xfrm>
            <a:off x="4112415" y="2172097"/>
            <a:ext cx="2637863" cy="307082"/>
          </a:xfrm>
          <a:prstGeom prst="rect">
            <a:avLst/>
          </a:prstGeom>
          <a:noFill/>
          <a:ln/>
        </p:spPr>
        <p:txBody>
          <a:bodyPr wrap="none" lIns="0" tIns="0" rIns="0" bIns="0" rtlCol="0" anchor="t"/>
          <a:lstStyle/>
          <a:p>
            <a:pPr algn="l" indent="0" marL="0">
              <a:lnSpc>
                <a:spcPct val="108000"/>
              </a:lnSpc>
              <a:buNone/>
            </a:pPr>
            <a:r>
              <a:rPr lang="en-US" sz="1850" b="1" spc="-37" kern="0" dirty="0">
                <a:solidFill>
                  <a:srgbClr val="EBEDF0"/>
                </a:solidFill>
                <a:latin typeface="Geist Bold" pitchFamily="34" charset="0"/>
                <a:ea typeface="Geist Bold" pitchFamily="34" charset="-122"/>
                <a:cs typeface="Geist Bold" pitchFamily="34" charset="-120"/>
              </a:rPr>
              <a:t>Main Task</a:t>
            </a:r>
            <a:endParaRPr lang="en-US" sz="1850" dirty="0"/>
          </a:p>
        </p:txBody>
      </p:sp>
      <p:sp>
        <p:nvSpPr>
          <p:cNvPr id="9" name="Text 6"/>
          <p:cNvSpPr/>
          <p:nvPr/>
        </p:nvSpPr>
        <p:spPr>
          <a:xfrm>
            <a:off x="4112415" y="2592586"/>
            <a:ext cx="2637863" cy="1228328"/>
          </a:xfrm>
          <a:prstGeom prst="rect">
            <a:avLst/>
          </a:prstGeom>
          <a:noFill/>
          <a:ln/>
        </p:spPr>
        <p:txBody>
          <a:bodyPr wrap="square" lIns="0" tIns="0" rIns="0" bIns="0" rtlCol="0" anchor="t">
            <a:normAutofit/>
          </a:bodyPr>
          <a:lstStyle/>
          <a:p>
            <a:pPr algn="l" indent="0" marL="0">
              <a:lnSpc>
                <a:spcPct val="108000"/>
              </a:lnSpc>
              <a:buNone/>
            </a:pPr>
            <a:r>
              <a:rPr lang="en-US" sz="1450" dirty="0">
                <a:solidFill>
                  <a:srgbClr val="EBEDF0"/>
                </a:solidFill>
                <a:latin typeface="Geist" pitchFamily="34" charset="0"/>
                <a:ea typeface="Geist" pitchFamily="34" charset="-122"/>
                <a:cs typeface="Geist" pitchFamily="34" charset="-120"/>
              </a:rPr>
              <a:t>Successfully pick a LEGO or small object using the camera for detection, and place it at a new location — using fully manual control.</a:t>
            </a:r>
            <a:endParaRPr lang="en-US" sz="1450" dirty="0"/>
          </a:p>
        </p:txBody>
      </p:sp>
      <p:sp>
        <p:nvSpPr>
          <p:cNvPr id="10" name="Shape 7"/>
          <p:cNvSpPr/>
          <p:nvPr/>
        </p:nvSpPr>
        <p:spPr>
          <a:xfrm>
            <a:off x="661475" y="4217988"/>
            <a:ext cx="6296860" cy="1573609"/>
          </a:xfrm>
          <a:prstGeom prst="roundRect">
            <a:avLst>
              <a:gd name="adj" fmla="val 5045"/>
            </a:avLst>
          </a:prstGeom>
          <a:solidFill>
            <a:srgbClr val="101620"/>
          </a:solidFill>
          <a:ln w="19050">
            <a:solidFill>
              <a:srgbClr val="002A80"/>
            </a:solidFill>
            <a:prstDash val="solid"/>
          </a:ln>
        </p:spPr>
      </p:sp>
      <p:sp>
        <p:nvSpPr>
          <p:cNvPr id="11" name="Text 8"/>
          <p:cNvSpPr/>
          <p:nvPr/>
        </p:nvSpPr>
        <p:spPr>
          <a:xfrm>
            <a:off x="869531" y="4426049"/>
            <a:ext cx="5880747" cy="307082"/>
          </a:xfrm>
          <a:prstGeom prst="rect">
            <a:avLst/>
          </a:prstGeom>
          <a:noFill/>
          <a:ln/>
        </p:spPr>
        <p:txBody>
          <a:bodyPr wrap="none" lIns="0" tIns="0" rIns="0" bIns="0" rtlCol="0" anchor="t"/>
          <a:lstStyle/>
          <a:p>
            <a:pPr algn="l" indent="0" marL="0">
              <a:lnSpc>
                <a:spcPct val="108000"/>
              </a:lnSpc>
              <a:buNone/>
            </a:pPr>
            <a:r>
              <a:rPr lang="en-US" sz="1850" b="1" spc="-37" kern="0" dirty="0">
                <a:solidFill>
                  <a:srgbClr val="EBEDF0"/>
                </a:solidFill>
                <a:latin typeface="Geist Bold" pitchFamily="34" charset="0"/>
                <a:ea typeface="Geist Bold" pitchFamily="34" charset="-122"/>
                <a:cs typeface="Geist Bold" pitchFamily="34" charset="-120"/>
              </a:rPr>
              <a:t>Testing Focus</a:t>
            </a:r>
            <a:endParaRPr lang="en-US" sz="1850" dirty="0"/>
          </a:p>
        </p:txBody>
      </p:sp>
      <p:sp>
        <p:nvSpPr>
          <p:cNvPr id="12" name="Text 9"/>
          <p:cNvSpPr/>
          <p:nvPr/>
        </p:nvSpPr>
        <p:spPr>
          <a:xfrm>
            <a:off x="869531" y="4846538"/>
            <a:ext cx="5880747" cy="736997"/>
          </a:xfrm>
          <a:prstGeom prst="rect">
            <a:avLst/>
          </a:prstGeom>
          <a:noFill/>
          <a:ln/>
        </p:spPr>
        <p:txBody>
          <a:bodyPr wrap="square" lIns="0" tIns="0" rIns="0" bIns="0" rtlCol="0" anchor="t">
            <a:normAutofit/>
          </a:bodyPr>
          <a:lstStyle/>
          <a:p>
            <a:pPr algn="l" indent="0" marL="0">
              <a:lnSpc>
                <a:spcPct val="108000"/>
              </a:lnSpc>
              <a:buNone/>
            </a:pPr>
            <a:r>
              <a:rPr lang="en-US" sz="1450" dirty="0">
                <a:solidFill>
                  <a:srgbClr val="EBEDF0"/>
                </a:solidFill>
                <a:latin typeface="Geist" pitchFamily="34" charset="0"/>
                <a:ea typeface="Geist" pitchFamily="34" charset="-122"/>
                <a:cs typeface="Geist" pitchFamily="34" charset="-120"/>
              </a:rPr>
              <a:t>Test all 6 DOF &amp; servo movement, arm positioning accuracy, gripper opening/closing, object picking &amp; placement, and validate mechanical design.</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554633"/>
            <a:ext cx="10868745" cy="604639"/>
          </a:xfrm>
          <a:prstGeom prst="rect">
            <a:avLst/>
          </a:prstGeom>
          <a:noFill/>
          <a:ln/>
        </p:spPr>
        <p:txBody>
          <a:bodyPr wrap="none" lIns="0" tIns="0" rIns="0" bIns="0" rtlCol="0" anchor="t"/>
          <a:lstStyle/>
          <a:p>
            <a:pPr algn="l" indent="0" marL="0">
              <a:lnSpc>
                <a:spcPct val="108000"/>
              </a:lnSpc>
              <a:buNone/>
            </a:pPr>
            <a:r>
              <a:rPr lang="en-US" sz="3650" b="1" spc="-73" kern="0" dirty="0">
                <a:solidFill>
                  <a:srgbClr val="F2F5FA"/>
                </a:solidFill>
                <a:latin typeface="Geist Bold" pitchFamily="34" charset="0"/>
                <a:ea typeface="Geist Bold" pitchFamily="34" charset="-122"/>
                <a:cs typeface="Geist Bold" pitchFamily="34" charset="-120"/>
              </a:rPr>
              <a:t>Stage 1 — Pick &amp; Place Pipeline</a:t>
            </a:r>
            <a:endParaRPr lang="en-US" sz="3650" dirty="0"/>
          </a:p>
        </p:txBody>
      </p:sp>
      <p:sp>
        <p:nvSpPr>
          <p:cNvPr id="3" name="Text 1"/>
          <p:cNvSpPr/>
          <p:nvPr/>
        </p:nvSpPr>
        <p:spPr>
          <a:xfrm>
            <a:off x="661475" y="1525588"/>
            <a:ext cx="10868745" cy="479822"/>
          </a:xfrm>
          <a:prstGeom prst="rect">
            <a:avLst/>
          </a:prstGeom>
          <a:noFill/>
          <a:ln/>
        </p:spPr>
        <p:txBody>
          <a:bodyPr wrap="square" lIns="0" tIns="0" rIns="0" bIns="0" rtlCol="0" anchor="t">
            <a:normAutofit/>
          </a:bodyPr>
          <a:lstStyle/>
          <a:p>
            <a:pPr algn="l" indent="0" marL="0">
              <a:lnSpc>
                <a:spcPct val="107000"/>
              </a:lnSpc>
              <a:buNone/>
            </a:pPr>
            <a:r>
              <a:rPr lang="en-US" sz="1450" dirty="0">
                <a:solidFill>
                  <a:srgbClr val="EBEDF0"/>
                </a:solidFill>
                <a:latin typeface="Geist" pitchFamily="34" charset="0"/>
                <a:ea typeface="Geist" pitchFamily="34" charset="-122"/>
                <a:cs typeface="Geist" pitchFamily="34" charset="-120"/>
              </a:rPr>
              <a:t>Before making the robot autonomous, we must prove the arm itself can physically perform accurate manipulation. This 8-step sequence validates the full manual control loop.</a:t>
            </a:r>
            <a:endParaRPr lang="en-US" sz="1450" dirty="0"/>
          </a:p>
        </p:txBody>
      </p:sp>
      <p:sp>
        <p:nvSpPr>
          <p:cNvPr id="4" name="Text 2"/>
          <p:cNvSpPr/>
          <p:nvPr/>
        </p:nvSpPr>
        <p:spPr>
          <a:xfrm>
            <a:off x="661475" y="2211388"/>
            <a:ext cx="372061" cy="241796"/>
          </a:xfrm>
          <a:prstGeom prst="rect">
            <a:avLst/>
          </a:prstGeom>
          <a:noFill/>
          <a:ln/>
        </p:spPr>
        <p:txBody>
          <a:bodyPr wrap="none" lIns="0" tIns="0" rIns="0" bIns="0" rtlCol="0" anchor="ctr"/>
          <a:lstStyle/>
          <a:p>
            <a:pPr algn="l" indent="0" marL="0">
              <a:lnSpc>
                <a:spcPct val="100000"/>
              </a:lnSpc>
              <a:buNone/>
            </a:pPr>
            <a:r>
              <a:rPr lang="en-US" sz="1450" spc="-29" kern="0" dirty="0">
                <a:solidFill>
                  <a:srgbClr val="EBEDF0"/>
                </a:solidFill>
                <a:latin typeface="Geist Light" pitchFamily="34" charset="0"/>
                <a:ea typeface="Geist Light" pitchFamily="34" charset="-122"/>
                <a:cs typeface="Geist Light" pitchFamily="34" charset="-120"/>
              </a:rPr>
              <a:t>01</a:t>
            </a:r>
            <a:endParaRPr lang="en-US" sz="1450" dirty="0"/>
          </a:p>
        </p:txBody>
      </p:sp>
      <p:sp>
        <p:nvSpPr>
          <p:cNvPr id="5" name="Shape 3"/>
          <p:cNvSpPr/>
          <p:nvPr/>
        </p:nvSpPr>
        <p:spPr>
          <a:xfrm>
            <a:off x="661475" y="2511425"/>
            <a:ext cx="5342796" cy="25400"/>
          </a:xfrm>
          <a:prstGeom prst="rect">
            <a:avLst/>
          </a:prstGeom>
          <a:solidFill>
            <a:srgbClr val="487CFF"/>
          </a:solidFill>
          <a:ln/>
        </p:spPr>
      </p:sp>
      <p:sp>
        <p:nvSpPr>
          <p:cNvPr id="6" name="Text 4"/>
          <p:cNvSpPr/>
          <p:nvPr/>
        </p:nvSpPr>
        <p:spPr>
          <a:xfrm>
            <a:off x="661475" y="2655193"/>
            <a:ext cx="5342796" cy="302320"/>
          </a:xfrm>
          <a:prstGeom prst="rect">
            <a:avLst/>
          </a:prstGeom>
          <a:noFill/>
          <a:ln/>
        </p:spPr>
        <p:txBody>
          <a:bodyPr wrap="none" lIns="0" tIns="0" rIns="0" bIns="0" rtlCol="0" anchor="t"/>
          <a:lstStyle/>
          <a:p>
            <a:pPr algn="l" indent="0" marL="0">
              <a:lnSpc>
                <a:spcPct val="108000"/>
              </a:lnSpc>
              <a:buNone/>
            </a:pPr>
            <a:r>
              <a:rPr lang="en-US" sz="1800" b="1" spc="-37" kern="0" dirty="0">
                <a:solidFill>
                  <a:srgbClr val="EBEDF0"/>
                </a:solidFill>
                <a:latin typeface="Geist Bold" pitchFamily="34" charset="0"/>
                <a:ea typeface="Geist Bold" pitchFamily="34" charset="-122"/>
                <a:cs typeface="Geist Bold" pitchFamily="34" charset="-120"/>
              </a:rPr>
              <a:t>Object Detected / Observed</a:t>
            </a:r>
            <a:endParaRPr lang="en-US" sz="1800" dirty="0"/>
          </a:p>
        </p:txBody>
      </p:sp>
      <p:sp>
        <p:nvSpPr>
          <p:cNvPr id="7" name="Text 5"/>
          <p:cNvSpPr/>
          <p:nvPr/>
        </p:nvSpPr>
        <p:spPr>
          <a:xfrm>
            <a:off x="6187424" y="2211388"/>
            <a:ext cx="372061" cy="241796"/>
          </a:xfrm>
          <a:prstGeom prst="rect">
            <a:avLst/>
          </a:prstGeom>
          <a:noFill/>
          <a:ln/>
        </p:spPr>
        <p:txBody>
          <a:bodyPr wrap="none" lIns="0" tIns="0" rIns="0" bIns="0" rtlCol="0" anchor="ctr"/>
          <a:lstStyle/>
          <a:p>
            <a:pPr algn="l" indent="0" marL="0">
              <a:lnSpc>
                <a:spcPct val="100000"/>
              </a:lnSpc>
              <a:buNone/>
            </a:pPr>
            <a:r>
              <a:rPr lang="en-US" sz="1450" spc="-29" kern="0" dirty="0">
                <a:solidFill>
                  <a:srgbClr val="EBEDF0"/>
                </a:solidFill>
                <a:latin typeface="Geist Light" pitchFamily="34" charset="0"/>
                <a:ea typeface="Geist Light" pitchFamily="34" charset="-122"/>
                <a:cs typeface="Geist Light" pitchFamily="34" charset="-120"/>
              </a:rPr>
              <a:t>02</a:t>
            </a:r>
            <a:endParaRPr lang="en-US" sz="1450" dirty="0"/>
          </a:p>
        </p:txBody>
      </p:sp>
      <p:sp>
        <p:nvSpPr>
          <p:cNvPr id="8" name="Shape 6"/>
          <p:cNvSpPr/>
          <p:nvPr/>
        </p:nvSpPr>
        <p:spPr>
          <a:xfrm>
            <a:off x="6187424" y="2511425"/>
            <a:ext cx="5342796" cy="25400"/>
          </a:xfrm>
          <a:prstGeom prst="rect">
            <a:avLst/>
          </a:prstGeom>
          <a:solidFill>
            <a:srgbClr val="487CFF"/>
          </a:solidFill>
          <a:ln/>
        </p:spPr>
      </p:sp>
      <p:sp>
        <p:nvSpPr>
          <p:cNvPr id="9" name="Text 7"/>
          <p:cNvSpPr/>
          <p:nvPr/>
        </p:nvSpPr>
        <p:spPr>
          <a:xfrm>
            <a:off x="6187424" y="2655193"/>
            <a:ext cx="5342796" cy="302320"/>
          </a:xfrm>
          <a:prstGeom prst="rect">
            <a:avLst/>
          </a:prstGeom>
          <a:noFill/>
          <a:ln/>
        </p:spPr>
        <p:txBody>
          <a:bodyPr wrap="none" lIns="0" tIns="0" rIns="0" bIns="0" rtlCol="0" anchor="t"/>
          <a:lstStyle/>
          <a:p>
            <a:pPr algn="l" indent="0" marL="0">
              <a:lnSpc>
                <a:spcPct val="108000"/>
              </a:lnSpc>
              <a:buNone/>
            </a:pPr>
            <a:r>
              <a:rPr lang="en-US" sz="1800" b="1" spc="-37" kern="0" dirty="0">
                <a:solidFill>
                  <a:srgbClr val="EBEDF0"/>
                </a:solidFill>
                <a:latin typeface="Geist Bold" pitchFamily="34" charset="0"/>
                <a:ea typeface="Geist Bold" pitchFamily="34" charset="-122"/>
                <a:cs typeface="Geist Bold" pitchFamily="34" charset="-120"/>
              </a:rPr>
              <a:t>User Controls Arm</a:t>
            </a:r>
            <a:endParaRPr lang="en-US" sz="1800" dirty="0"/>
          </a:p>
        </p:txBody>
      </p:sp>
      <p:sp>
        <p:nvSpPr>
          <p:cNvPr id="10" name="Text 8"/>
          <p:cNvSpPr/>
          <p:nvPr/>
        </p:nvSpPr>
        <p:spPr>
          <a:xfrm>
            <a:off x="661475" y="3280172"/>
            <a:ext cx="372061" cy="241796"/>
          </a:xfrm>
          <a:prstGeom prst="rect">
            <a:avLst/>
          </a:prstGeom>
          <a:noFill/>
          <a:ln/>
        </p:spPr>
        <p:txBody>
          <a:bodyPr wrap="none" lIns="0" tIns="0" rIns="0" bIns="0" rtlCol="0" anchor="ctr"/>
          <a:lstStyle/>
          <a:p>
            <a:pPr algn="l" indent="0" marL="0">
              <a:lnSpc>
                <a:spcPct val="100000"/>
              </a:lnSpc>
              <a:buNone/>
            </a:pPr>
            <a:r>
              <a:rPr lang="en-US" sz="1450" spc="-29" kern="0" dirty="0">
                <a:solidFill>
                  <a:srgbClr val="EBEDF0"/>
                </a:solidFill>
                <a:latin typeface="Geist Light" pitchFamily="34" charset="0"/>
                <a:ea typeface="Geist Light" pitchFamily="34" charset="-122"/>
                <a:cs typeface="Geist Light" pitchFamily="34" charset="-120"/>
              </a:rPr>
              <a:t>03</a:t>
            </a:r>
            <a:endParaRPr lang="en-US" sz="1450" dirty="0"/>
          </a:p>
        </p:txBody>
      </p:sp>
      <p:sp>
        <p:nvSpPr>
          <p:cNvPr id="11" name="Shape 9"/>
          <p:cNvSpPr/>
          <p:nvPr/>
        </p:nvSpPr>
        <p:spPr>
          <a:xfrm>
            <a:off x="661475" y="3561556"/>
            <a:ext cx="5342796" cy="25400"/>
          </a:xfrm>
          <a:prstGeom prst="rect">
            <a:avLst/>
          </a:prstGeom>
          <a:solidFill>
            <a:srgbClr val="487CFF"/>
          </a:solidFill>
          <a:ln/>
        </p:spPr>
      </p:sp>
      <p:sp>
        <p:nvSpPr>
          <p:cNvPr id="12" name="Text 10"/>
          <p:cNvSpPr/>
          <p:nvPr/>
        </p:nvSpPr>
        <p:spPr>
          <a:xfrm>
            <a:off x="661475" y="3723977"/>
            <a:ext cx="5342796" cy="302320"/>
          </a:xfrm>
          <a:prstGeom prst="rect">
            <a:avLst/>
          </a:prstGeom>
          <a:noFill/>
          <a:ln/>
        </p:spPr>
        <p:txBody>
          <a:bodyPr wrap="none" lIns="0" tIns="0" rIns="0" bIns="0" rtlCol="0" anchor="t"/>
          <a:lstStyle/>
          <a:p>
            <a:pPr algn="l" indent="0" marL="0">
              <a:lnSpc>
                <a:spcPct val="108000"/>
              </a:lnSpc>
              <a:buNone/>
            </a:pPr>
            <a:r>
              <a:rPr lang="en-US" sz="1800" b="1" spc="-37" kern="0" dirty="0">
                <a:solidFill>
                  <a:srgbClr val="EBEDF0"/>
                </a:solidFill>
                <a:latin typeface="Geist Bold" pitchFamily="34" charset="0"/>
                <a:ea typeface="Geist Bold" pitchFamily="34" charset="-122"/>
                <a:cs typeface="Geist Bold" pitchFamily="34" charset="-120"/>
              </a:rPr>
              <a:t>Arm Moves to Object</a:t>
            </a:r>
            <a:endParaRPr lang="en-US" sz="1800" dirty="0"/>
          </a:p>
        </p:txBody>
      </p:sp>
      <p:sp>
        <p:nvSpPr>
          <p:cNvPr id="13" name="Text 11"/>
          <p:cNvSpPr/>
          <p:nvPr/>
        </p:nvSpPr>
        <p:spPr>
          <a:xfrm>
            <a:off x="6187424" y="3280172"/>
            <a:ext cx="372061" cy="241796"/>
          </a:xfrm>
          <a:prstGeom prst="rect">
            <a:avLst/>
          </a:prstGeom>
          <a:noFill/>
          <a:ln/>
        </p:spPr>
        <p:txBody>
          <a:bodyPr wrap="none" lIns="0" tIns="0" rIns="0" bIns="0" rtlCol="0" anchor="ctr"/>
          <a:lstStyle/>
          <a:p>
            <a:pPr algn="l" indent="0" marL="0">
              <a:lnSpc>
                <a:spcPct val="100000"/>
              </a:lnSpc>
              <a:buNone/>
            </a:pPr>
            <a:r>
              <a:rPr lang="en-US" sz="1450" spc="-29" kern="0" dirty="0">
                <a:solidFill>
                  <a:srgbClr val="EBEDF0"/>
                </a:solidFill>
                <a:latin typeface="Geist Light" pitchFamily="34" charset="0"/>
                <a:ea typeface="Geist Light" pitchFamily="34" charset="-122"/>
                <a:cs typeface="Geist Light" pitchFamily="34" charset="-120"/>
              </a:rPr>
              <a:t>04</a:t>
            </a:r>
            <a:endParaRPr lang="en-US" sz="1450" dirty="0"/>
          </a:p>
        </p:txBody>
      </p:sp>
      <p:sp>
        <p:nvSpPr>
          <p:cNvPr id="14" name="Shape 12"/>
          <p:cNvSpPr/>
          <p:nvPr/>
        </p:nvSpPr>
        <p:spPr>
          <a:xfrm>
            <a:off x="6187424" y="3561556"/>
            <a:ext cx="5342796" cy="25400"/>
          </a:xfrm>
          <a:prstGeom prst="rect">
            <a:avLst/>
          </a:prstGeom>
          <a:solidFill>
            <a:srgbClr val="487CFF"/>
          </a:solidFill>
          <a:ln/>
        </p:spPr>
      </p:sp>
      <p:sp>
        <p:nvSpPr>
          <p:cNvPr id="15" name="Text 13"/>
          <p:cNvSpPr/>
          <p:nvPr/>
        </p:nvSpPr>
        <p:spPr>
          <a:xfrm>
            <a:off x="6187424" y="3723977"/>
            <a:ext cx="5342796" cy="302320"/>
          </a:xfrm>
          <a:prstGeom prst="rect">
            <a:avLst/>
          </a:prstGeom>
          <a:noFill/>
          <a:ln/>
        </p:spPr>
        <p:txBody>
          <a:bodyPr wrap="none" lIns="0" tIns="0" rIns="0" bIns="0" rtlCol="0" anchor="t"/>
          <a:lstStyle/>
          <a:p>
            <a:pPr algn="l" indent="0" marL="0">
              <a:lnSpc>
                <a:spcPct val="108000"/>
              </a:lnSpc>
              <a:buNone/>
            </a:pPr>
            <a:r>
              <a:rPr lang="en-US" sz="1800" b="1" spc="-37" kern="0" dirty="0">
                <a:solidFill>
                  <a:srgbClr val="EBEDF0"/>
                </a:solidFill>
                <a:latin typeface="Geist Bold" pitchFamily="34" charset="0"/>
                <a:ea typeface="Geist Bold" pitchFamily="34" charset="-122"/>
                <a:cs typeface="Geist Bold" pitchFamily="34" charset="-120"/>
              </a:rPr>
              <a:t>Gripper Closes</a:t>
            </a:r>
            <a:endParaRPr lang="en-US" sz="1800" dirty="0"/>
          </a:p>
        </p:txBody>
      </p:sp>
      <p:sp>
        <p:nvSpPr>
          <p:cNvPr id="16" name="Text 14"/>
          <p:cNvSpPr/>
          <p:nvPr/>
        </p:nvSpPr>
        <p:spPr>
          <a:xfrm>
            <a:off x="661475" y="4348956"/>
            <a:ext cx="372061" cy="241796"/>
          </a:xfrm>
          <a:prstGeom prst="rect">
            <a:avLst/>
          </a:prstGeom>
          <a:noFill/>
          <a:ln/>
        </p:spPr>
        <p:txBody>
          <a:bodyPr wrap="none" lIns="0" tIns="0" rIns="0" bIns="0" rtlCol="0" anchor="ctr"/>
          <a:lstStyle/>
          <a:p>
            <a:pPr algn="l" indent="0" marL="0">
              <a:lnSpc>
                <a:spcPct val="100000"/>
              </a:lnSpc>
              <a:buNone/>
            </a:pPr>
            <a:r>
              <a:rPr lang="en-US" sz="1450" spc="-29" kern="0" dirty="0">
                <a:solidFill>
                  <a:srgbClr val="EBEDF0"/>
                </a:solidFill>
                <a:latin typeface="Geist Light" pitchFamily="34" charset="0"/>
                <a:ea typeface="Geist Light" pitchFamily="34" charset="-122"/>
                <a:cs typeface="Geist Light" pitchFamily="34" charset="-120"/>
              </a:rPr>
              <a:t>05</a:t>
            </a:r>
            <a:endParaRPr lang="en-US" sz="1450" dirty="0"/>
          </a:p>
        </p:txBody>
      </p:sp>
      <p:sp>
        <p:nvSpPr>
          <p:cNvPr id="17" name="Shape 15"/>
          <p:cNvSpPr/>
          <p:nvPr/>
        </p:nvSpPr>
        <p:spPr>
          <a:xfrm>
            <a:off x="661475" y="4611787"/>
            <a:ext cx="5342796" cy="25400"/>
          </a:xfrm>
          <a:prstGeom prst="rect">
            <a:avLst/>
          </a:prstGeom>
          <a:solidFill>
            <a:srgbClr val="487CFF"/>
          </a:solidFill>
          <a:ln/>
        </p:spPr>
      </p:sp>
      <p:sp>
        <p:nvSpPr>
          <p:cNvPr id="18" name="Text 16"/>
          <p:cNvSpPr/>
          <p:nvPr/>
        </p:nvSpPr>
        <p:spPr>
          <a:xfrm>
            <a:off x="661475" y="4792762"/>
            <a:ext cx="5342796" cy="302320"/>
          </a:xfrm>
          <a:prstGeom prst="rect">
            <a:avLst/>
          </a:prstGeom>
          <a:noFill/>
          <a:ln/>
        </p:spPr>
        <p:txBody>
          <a:bodyPr wrap="none" lIns="0" tIns="0" rIns="0" bIns="0" rtlCol="0" anchor="t"/>
          <a:lstStyle/>
          <a:p>
            <a:pPr algn="l" indent="0" marL="0">
              <a:lnSpc>
                <a:spcPct val="108000"/>
              </a:lnSpc>
              <a:buNone/>
            </a:pPr>
            <a:r>
              <a:rPr lang="en-US" sz="1800" b="1" spc="-37" kern="0" dirty="0">
                <a:solidFill>
                  <a:srgbClr val="EBEDF0"/>
                </a:solidFill>
                <a:latin typeface="Geist Bold" pitchFamily="34" charset="0"/>
                <a:ea typeface="Geist Bold" pitchFamily="34" charset="-122"/>
                <a:cs typeface="Geist Bold" pitchFamily="34" charset="-120"/>
              </a:rPr>
              <a:t>Object Picked</a:t>
            </a:r>
            <a:endParaRPr lang="en-US" sz="1800" dirty="0"/>
          </a:p>
        </p:txBody>
      </p:sp>
      <p:sp>
        <p:nvSpPr>
          <p:cNvPr id="19" name="Text 17"/>
          <p:cNvSpPr/>
          <p:nvPr/>
        </p:nvSpPr>
        <p:spPr>
          <a:xfrm>
            <a:off x="6187424" y="4348956"/>
            <a:ext cx="372061" cy="241796"/>
          </a:xfrm>
          <a:prstGeom prst="rect">
            <a:avLst/>
          </a:prstGeom>
          <a:noFill/>
          <a:ln/>
        </p:spPr>
        <p:txBody>
          <a:bodyPr wrap="none" lIns="0" tIns="0" rIns="0" bIns="0" rtlCol="0" anchor="ctr"/>
          <a:lstStyle/>
          <a:p>
            <a:pPr algn="l" indent="0" marL="0">
              <a:lnSpc>
                <a:spcPct val="100000"/>
              </a:lnSpc>
              <a:buNone/>
            </a:pPr>
            <a:r>
              <a:rPr lang="en-US" sz="1450" spc="-29" kern="0" dirty="0">
                <a:solidFill>
                  <a:srgbClr val="EBEDF0"/>
                </a:solidFill>
                <a:latin typeface="Geist Light" pitchFamily="34" charset="0"/>
                <a:ea typeface="Geist Light" pitchFamily="34" charset="-122"/>
                <a:cs typeface="Geist Light" pitchFamily="34" charset="-120"/>
              </a:rPr>
              <a:t>06</a:t>
            </a:r>
            <a:endParaRPr lang="en-US" sz="1450" dirty="0"/>
          </a:p>
        </p:txBody>
      </p:sp>
      <p:sp>
        <p:nvSpPr>
          <p:cNvPr id="20" name="Shape 18"/>
          <p:cNvSpPr/>
          <p:nvPr/>
        </p:nvSpPr>
        <p:spPr>
          <a:xfrm>
            <a:off x="6187424" y="4611787"/>
            <a:ext cx="5342796" cy="25400"/>
          </a:xfrm>
          <a:prstGeom prst="rect">
            <a:avLst/>
          </a:prstGeom>
          <a:solidFill>
            <a:srgbClr val="487CFF"/>
          </a:solidFill>
          <a:ln/>
        </p:spPr>
      </p:sp>
      <p:sp>
        <p:nvSpPr>
          <p:cNvPr id="21" name="Text 19"/>
          <p:cNvSpPr/>
          <p:nvPr/>
        </p:nvSpPr>
        <p:spPr>
          <a:xfrm>
            <a:off x="6187424" y="4792762"/>
            <a:ext cx="5342796" cy="302320"/>
          </a:xfrm>
          <a:prstGeom prst="rect">
            <a:avLst/>
          </a:prstGeom>
          <a:noFill/>
          <a:ln/>
        </p:spPr>
        <p:txBody>
          <a:bodyPr wrap="none" lIns="0" tIns="0" rIns="0" bIns="0" rtlCol="0" anchor="t"/>
          <a:lstStyle/>
          <a:p>
            <a:pPr algn="l" indent="0" marL="0">
              <a:lnSpc>
                <a:spcPct val="108000"/>
              </a:lnSpc>
              <a:buNone/>
            </a:pPr>
            <a:r>
              <a:rPr lang="en-US" sz="1800" b="1" spc="-37" kern="0" dirty="0">
                <a:solidFill>
                  <a:srgbClr val="EBEDF0"/>
                </a:solidFill>
                <a:latin typeface="Geist Bold" pitchFamily="34" charset="0"/>
                <a:ea typeface="Geist Bold" pitchFamily="34" charset="-122"/>
                <a:cs typeface="Geist Bold" pitchFamily="34" charset="-120"/>
              </a:rPr>
              <a:t>Arm Moves to Destination</a:t>
            </a:r>
            <a:endParaRPr lang="en-US" sz="1800" dirty="0"/>
          </a:p>
        </p:txBody>
      </p:sp>
      <p:sp>
        <p:nvSpPr>
          <p:cNvPr id="22" name="Text 20"/>
          <p:cNvSpPr/>
          <p:nvPr/>
        </p:nvSpPr>
        <p:spPr>
          <a:xfrm>
            <a:off x="661475" y="5417741"/>
            <a:ext cx="372061" cy="241796"/>
          </a:xfrm>
          <a:prstGeom prst="rect">
            <a:avLst/>
          </a:prstGeom>
          <a:noFill/>
          <a:ln/>
        </p:spPr>
        <p:txBody>
          <a:bodyPr wrap="none" lIns="0" tIns="0" rIns="0" bIns="0" rtlCol="0" anchor="ctr"/>
          <a:lstStyle/>
          <a:p>
            <a:pPr algn="l" indent="0" marL="0">
              <a:lnSpc>
                <a:spcPct val="100000"/>
              </a:lnSpc>
              <a:buNone/>
            </a:pPr>
            <a:r>
              <a:rPr lang="en-US" sz="1450" spc="-29" kern="0" dirty="0">
                <a:solidFill>
                  <a:srgbClr val="EBEDF0"/>
                </a:solidFill>
                <a:latin typeface="Geist Light" pitchFamily="34" charset="0"/>
                <a:ea typeface="Geist Light" pitchFamily="34" charset="-122"/>
                <a:cs typeface="Geist Light" pitchFamily="34" charset="-120"/>
              </a:rPr>
              <a:t>07</a:t>
            </a:r>
            <a:endParaRPr lang="en-US" sz="1450" dirty="0"/>
          </a:p>
        </p:txBody>
      </p:sp>
      <p:sp>
        <p:nvSpPr>
          <p:cNvPr id="23" name="Shape 21"/>
          <p:cNvSpPr/>
          <p:nvPr/>
        </p:nvSpPr>
        <p:spPr>
          <a:xfrm>
            <a:off x="661475" y="5661918"/>
            <a:ext cx="5342796" cy="25400"/>
          </a:xfrm>
          <a:prstGeom prst="rect">
            <a:avLst/>
          </a:prstGeom>
          <a:solidFill>
            <a:srgbClr val="487CFF"/>
          </a:solidFill>
          <a:ln/>
        </p:spPr>
      </p:sp>
      <p:sp>
        <p:nvSpPr>
          <p:cNvPr id="24" name="Text 22"/>
          <p:cNvSpPr/>
          <p:nvPr/>
        </p:nvSpPr>
        <p:spPr>
          <a:xfrm>
            <a:off x="661475" y="5861546"/>
            <a:ext cx="5342796" cy="302320"/>
          </a:xfrm>
          <a:prstGeom prst="rect">
            <a:avLst/>
          </a:prstGeom>
          <a:noFill/>
          <a:ln/>
        </p:spPr>
        <p:txBody>
          <a:bodyPr wrap="none" lIns="0" tIns="0" rIns="0" bIns="0" rtlCol="0" anchor="t"/>
          <a:lstStyle/>
          <a:p>
            <a:pPr algn="l" indent="0" marL="0">
              <a:lnSpc>
                <a:spcPct val="108000"/>
              </a:lnSpc>
              <a:buNone/>
            </a:pPr>
            <a:r>
              <a:rPr lang="en-US" sz="1800" b="1" spc="-37" kern="0" dirty="0">
                <a:solidFill>
                  <a:srgbClr val="EBEDF0"/>
                </a:solidFill>
                <a:latin typeface="Geist Bold" pitchFamily="34" charset="0"/>
                <a:ea typeface="Geist Bold" pitchFamily="34" charset="-122"/>
                <a:cs typeface="Geist Bold" pitchFamily="34" charset="-120"/>
              </a:rPr>
              <a:t>Gripper Opens</a:t>
            </a:r>
            <a:endParaRPr lang="en-US" sz="1800" dirty="0"/>
          </a:p>
        </p:txBody>
      </p:sp>
      <p:sp>
        <p:nvSpPr>
          <p:cNvPr id="25" name="Text 23"/>
          <p:cNvSpPr/>
          <p:nvPr/>
        </p:nvSpPr>
        <p:spPr>
          <a:xfrm>
            <a:off x="6187424" y="5417741"/>
            <a:ext cx="372061" cy="241796"/>
          </a:xfrm>
          <a:prstGeom prst="rect">
            <a:avLst/>
          </a:prstGeom>
          <a:noFill/>
          <a:ln/>
        </p:spPr>
        <p:txBody>
          <a:bodyPr wrap="none" lIns="0" tIns="0" rIns="0" bIns="0" rtlCol="0" anchor="ctr"/>
          <a:lstStyle/>
          <a:p>
            <a:pPr algn="l" indent="0" marL="0">
              <a:lnSpc>
                <a:spcPct val="100000"/>
              </a:lnSpc>
              <a:buNone/>
            </a:pPr>
            <a:r>
              <a:rPr lang="en-US" sz="1450" spc="-29" kern="0" dirty="0">
                <a:solidFill>
                  <a:srgbClr val="EBEDF0"/>
                </a:solidFill>
                <a:latin typeface="Geist Light" pitchFamily="34" charset="0"/>
                <a:ea typeface="Geist Light" pitchFamily="34" charset="-122"/>
                <a:cs typeface="Geist Light" pitchFamily="34" charset="-120"/>
              </a:rPr>
              <a:t>08</a:t>
            </a:r>
            <a:endParaRPr lang="en-US" sz="1450" dirty="0"/>
          </a:p>
        </p:txBody>
      </p:sp>
      <p:sp>
        <p:nvSpPr>
          <p:cNvPr id="26" name="Shape 24"/>
          <p:cNvSpPr/>
          <p:nvPr/>
        </p:nvSpPr>
        <p:spPr>
          <a:xfrm>
            <a:off x="6187424" y="5661918"/>
            <a:ext cx="5342796" cy="25400"/>
          </a:xfrm>
          <a:prstGeom prst="rect">
            <a:avLst/>
          </a:prstGeom>
          <a:solidFill>
            <a:srgbClr val="487CFF"/>
          </a:solidFill>
          <a:ln/>
        </p:spPr>
      </p:sp>
      <p:sp>
        <p:nvSpPr>
          <p:cNvPr id="27" name="Text 25"/>
          <p:cNvSpPr/>
          <p:nvPr/>
        </p:nvSpPr>
        <p:spPr>
          <a:xfrm>
            <a:off x="6187424" y="5861546"/>
            <a:ext cx="5342796" cy="302320"/>
          </a:xfrm>
          <a:prstGeom prst="rect">
            <a:avLst/>
          </a:prstGeom>
          <a:noFill/>
          <a:ln/>
        </p:spPr>
        <p:txBody>
          <a:bodyPr wrap="none" lIns="0" tIns="0" rIns="0" bIns="0" rtlCol="0" anchor="t"/>
          <a:lstStyle/>
          <a:p>
            <a:pPr algn="l" indent="0" marL="0">
              <a:lnSpc>
                <a:spcPct val="108000"/>
              </a:lnSpc>
              <a:buNone/>
            </a:pPr>
            <a:r>
              <a:rPr lang="en-US" sz="1800" b="1" spc="-37" kern="0" dirty="0">
                <a:solidFill>
                  <a:srgbClr val="EBEDF0"/>
                </a:solidFill>
                <a:latin typeface="Geist Bold" pitchFamily="34" charset="0"/>
                <a:ea typeface="Geist Bold" pitchFamily="34" charset="-122"/>
                <a:cs typeface="Geist Bold" pitchFamily="34" charset="-120"/>
              </a:rPr>
              <a:t>Object Placed Successfully</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932855"/>
            <a:ext cx="10868745" cy="583605"/>
          </a:xfrm>
          <a:prstGeom prst="rect">
            <a:avLst/>
          </a:prstGeom>
          <a:noFill/>
          <a:ln/>
        </p:spPr>
        <p:txBody>
          <a:bodyPr wrap="none" lIns="0" tIns="0" rIns="0" bIns="0" rtlCol="0" anchor="t"/>
          <a:lstStyle/>
          <a:p>
            <a:pPr algn="l" indent="0" marL="0">
              <a:lnSpc>
                <a:spcPct val="108000"/>
              </a:lnSpc>
              <a:buNone/>
            </a:pPr>
            <a:r>
              <a:rPr lang="en-US" sz="3500" b="1" spc="-71" kern="0" dirty="0">
                <a:solidFill>
                  <a:srgbClr val="F2F5FA"/>
                </a:solidFill>
                <a:latin typeface="Geist Bold" pitchFamily="34" charset="0"/>
                <a:ea typeface="Geist Bold" pitchFamily="34" charset="-122"/>
                <a:cs typeface="Geist Bold" pitchFamily="34" charset="-120"/>
              </a:rPr>
              <a:t>Components List — Stage 1</a:t>
            </a:r>
            <a:endParaRPr lang="en-US" sz="35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61475" y="1857573"/>
          <a:ext cx="9143771" cy="914400"/>
        </p:xfrm>
        <a:graphic>
          <a:graphicData uri="http://schemas.openxmlformats.org/drawingml/2006/table">
            <a:tbl>
              <a:tblPr/>
              <a:tblGrid>
                <a:gridCol w="2173749"/>
                <a:gridCol w="4130123"/>
                <a:gridCol w="1086875"/>
                <a:gridCol w="1738999"/>
                <a:gridCol w="1738999"/>
              </a:tblGrid>
              <a:tr h="448061">
                <a:tc>
                  <a:txBody>
                    <a:bodyPr/>
                    <a:lstStyle/>
                    <a:p>
                      <a:pPr indent="0" marL="0">
                        <a:buNone/>
                      </a:pPr>
                      <a:r>
                        <a:rPr lang="en-US" sz="1400" b="1" dirty="0">
                          <a:solidFill>
                            <a:srgbClr val="EBEDF0"/>
                          </a:solidFill>
                          <a:latin typeface="Geist" pitchFamily="34" charset="0"/>
                          <a:ea typeface="Geist" pitchFamily="34" charset="-122"/>
                          <a:cs typeface="Geist" pitchFamily="34" charset="-120"/>
                        </a:rPr>
                        <a:t>Category</a:t>
                      </a:r>
                      <a:endParaRPr lang="en-US" sz="1400" dirty="0">
                        <a:latin typeface="Geist" charset="0"/>
                        <a:ea typeface="Geist" charset="0"/>
                        <a:cs typeface="Geist" charset="0"/>
                      </a:endParaRPr>
                    </a:p>
                  </a:txBody>
                  <a:tcPr marL="179568" marR="179568" marT="6350" marB="635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b="1" dirty="0">
                          <a:solidFill>
                            <a:srgbClr val="EBEDF0"/>
                          </a:solidFill>
                          <a:latin typeface="Geist" pitchFamily="34" charset="0"/>
                          <a:ea typeface="Geist" pitchFamily="34" charset="-122"/>
                          <a:cs typeface="Geist" pitchFamily="34" charset="-120"/>
                        </a:rPr>
                        <a:t>Component Name</a:t>
                      </a:r>
                      <a:endParaRPr lang="en-US" sz="1400" dirty="0">
                        <a:latin typeface="Geist" charset="0"/>
                        <a:ea typeface="Geist" charset="0"/>
                        <a:cs typeface="Geist" charset="0"/>
                      </a:endParaRPr>
                    </a:p>
                  </a:txBody>
                  <a:tcPr marL="179568" marR="179568" marT="6350" marB="635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b="1" dirty="0">
                          <a:solidFill>
                            <a:srgbClr val="EBEDF0"/>
                          </a:solidFill>
                          <a:latin typeface="Geist" pitchFamily="34" charset="0"/>
                          <a:ea typeface="Geist" pitchFamily="34" charset="-122"/>
                          <a:cs typeface="Geist" pitchFamily="34" charset="-120"/>
                        </a:rPr>
                        <a:t>Qty</a:t>
                      </a:r>
                      <a:endParaRPr lang="en-US" sz="1400" dirty="0">
                        <a:latin typeface="Geist" charset="0"/>
                        <a:ea typeface="Geist" charset="0"/>
                        <a:cs typeface="Geist" charset="0"/>
                      </a:endParaRPr>
                    </a:p>
                  </a:txBody>
                  <a:tcPr marL="179568" marR="179568" marT="6350" marB="635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b="1" dirty="0">
                          <a:solidFill>
                            <a:srgbClr val="EBEDF0"/>
                          </a:solidFill>
                          <a:latin typeface="Geist" pitchFamily="34" charset="0"/>
                          <a:ea typeface="Geist" pitchFamily="34" charset="-122"/>
                          <a:cs typeface="Geist" pitchFamily="34" charset="-120"/>
                        </a:rPr>
                        <a:t>Unit Price</a:t>
                      </a:r>
                      <a:endParaRPr lang="en-US" sz="1400" dirty="0">
                        <a:latin typeface="Geist" charset="0"/>
                        <a:ea typeface="Geist" charset="0"/>
                        <a:cs typeface="Geist" charset="0"/>
                      </a:endParaRPr>
                    </a:p>
                  </a:txBody>
                  <a:tcPr marL="179568" marR="179568" marT="6350" marB="635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b="1" dirty="0">
                          <a:solidFill>
                            <a:srgbClr val="EBEDF0"/>
                          </a:solidFill>
                          <a:latin typeface="Geist" pitchFamily="34" charset="0"/>
                          <a:ea typeface="Geist" pitchFamily="34" charset="-122"/>
                          <a:cs typeface="Geist" pitchFamily="34" charset="-120"/>
                        </a:rPr>
                        <a:t>Total Cost</a:t>
                      </a:r>
                      <a:endParaRPr lang="en-US" sz="1400" dirty="0">
                        <a:latin typeface="Geist" charset="0"/>
                        <a:ea typeface="Geist" charset="0"/>
                        <a:cs typeface="Geist" charset="0"/>
                      </a:endParaRPr>
                    </a:p>
                  </a:txBody>
                  <a:tcPr marL="179568" marR="179568" marT="6350" marB="6350" anchor="ctr">
                    <a:lnL w="0" cap="flat" cmpd="sng" algn="ctr">
                      <a:noFill/>
                    </a:lnL>
                    <a:lnR w="0" cap="flat" cmpd="sng" algn="ctr">
                      <a:noFill/>
                    </a:lnR>
                    <a:lnT w="0" cap="flat" cmpd="sng" algn="ctr">
                      <a:noFill/>
                    </a:lnT>
                    <a:lnB w="0" cap="flat" cmpd="sng" algn="ctr">
                      <a:noFill/>
                    </a:lnB>
                  </a:tcPr>
                </a:tc>
              </a:tr>
              <a:tr h="451236">
                <a:tc>
                  <a:txBody>
                    <a:bodyPr/>
                    <a:lstStyle/>
                    <a:p>
                      <a:pPr indent="0" marL="0">
                        <a:buNone/>
                      </a:pPr>
                      <a:r>
                        <a:rPr lang="en-US" sz="1400" dirty="0">
                          <a:solidFill>
                            <a:srgbClr val="EBEDF0"/>
                          </a:solidFill>
                          <a:latin typeface="Geist" pitchFamily="34" charset="0"/>
                          <a:ea typeface="Geist" pitchFamily="34" charset="-122"/>
                          <a:cs typeface="Geist" pitchFamily="34" charset="-120"/>
                        </a:rPr>
                        <a:t>Actuators</a:t>
                      </a:r>
                      <a:endParaRPr lang="en-US" sz="1400" dirty="0">
                        <a:latin typeface="Geist" charset="0"/>
                        <a:ea typeface="Geist" charset="0"/>
                        <a:cs typeface="Geist" charset="0"/>
                      </a:endParaRPr>
                    </a:p>
                  </a:txBody>
                  <a:tcPr marL="179568" marR="179568" marT="6350" marB="635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EBEDF0"/>
                          </a:solidFill>
                          <a:latin typeface="Geist" pitchFamily="34" charset="0"/>
                          <a:ea typeface="Geist" pitchFamily="34" charset="-122"/>
                          <a:cs typeface="Geist" pitchFamily="34" charset="-120"/>
                        </a:rPr>
                        <a:t>MG996R 180° Servos (9.4 kgf·cm)</a:t>
                      </a:r>
                      <a:endParaRPr lang="en-US" sz="1400" dirty="0">
                        <a:latin typeface="Geist" charset="0"/>
                        <a:ea typeface="Geist" charset="0"/>
                        <a:cs typeface="Geist" charset="0"/>
                      </a:endParaRPr>
                    </a:p>
                  </a:txBody>
                  <a:tcPr marL="179568" marR="179568" marT="6350" marB="635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EBEDF0"/>
                          </a:solidFill>
                          <a:latin typeface="Geist" pitchFamily="34" charset="0"/>
                          <a:ea typeface="Geist" pitchFamily="34" charset="-122"/>
                          <a:cs typeface="Geist" pitchFamily="34" charset="-120"/>
                        </a:rPr>
                        <a:t>3</a:t>
                      </a:r>
                      <a:endParaRPr lang="en-US" sz="1400" dirty="0">
                        <a:latin typeface="Geist" charset="0"/>
                        <a:ea typeface="Geist" charset="0"/>
                        <a:cs typeface="Geist" charset="0"/>
                      </a:endParaRPr>
                    </a:p>
                  </a:txBody>
                  <a:tcPr marL="179568" marR="179568" marT="6350" marB="635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EBEDF0"/>
                          </a:solidFill>
                          <a:latin typeface="Geist" pitchFamily="34" charset="0"/>
                          <a:ea typeface="Geist" pitchFamily="34" charset="-122"/>
                          <a:cs typeface="Geist" pitchFamily="34" charset="-120"/>
                        </a:rPr>
                        <a:t>₹1,317/pack</a:t>
                      </a:r>
                      <a:endParaRPr lang="en-US" sz="1400" dirty="0">
                        <a:latin typeface="Geist" charset="0"/>
                        <a:ea typeface="Geist" charset="0"/>
                        <a:cs typeface="Geist" charset="0"/>
                      </a:endParaRPr>
                    </a:p>
                  </a:txBody>
                  <a:tcPr marL="179568" marR="179568" marT="6350" marB="635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EBEDF0"/>
                          </a:solidFill>
                          <a:latin typeface="Geist" pitchFamily="34" charset="0"/>
                          <a:ea typeface="Geist" pitchFamily="34" charset="-122"/>
                          <a:cs typeface="Geist" pitchFamily="34" charset="-120"/>
                        </a:rPr>
                        <a:t>₹1,317</a:t>
                      </a:r>
                      <a:endParaRPr lang="en-US" sz="1400" dirty="0">
                        <a:latin typeface="Geist" charset="0"/>
                        <a:ea typeface="Geist" charset="0"/>
                        <a:cs typeface="Geist" charset="0"/>
                      </a:endParaRPr>
                    </a:p>
                  </a:txBody>
                  <a:tcPr marL="179568" marR="179568" marT="6350" marB="6350" anchor="ctr">
                    <a:lnL w="0" cap="flat" cmpd="sng" algn="ctr">
                      <a:noFill/>
                    </a:lnL>
                    <a:lnR w="0" cap="flat" cmpd="sng" algn="ctr">
                      <a:noFill/>
                    </a:lnR>
                    <a:lnT w="0" cap="flat" cmpd="sng" algn="ctr">
                      <a:noFill/>
                    </a:lnT>
                    <a:lnB w="0" cap="flat" cmpd="sng" algn="ctr">
                      <a:noFill/>
                    </a:lnB>
                  </a:tcPr>
                </a:tc>
              </a:tr>
              <a:tr h="451236">
                <a:tc>
                  <a:txBody>
                    <a:bodyPr/>
                    <a:lstStyle/>
                    <a:p>
                      <a:pPr indent="0" marL="0">
                        <a:buNone/>
                      </a:pPr>
                      <a:r>
                        <a:rPr lang="en-US" sz="1400" dirty="0">
                          <a:solidFill>
                            <a:srgbClr val="EBEDF0"/>
                          </a:solidFill>
                          <a:latin typeface="Geist" pitchFamily="34" charset="0"/>
                          <a:ea typeface="Geist" pitchFamily="34" charset="-122"/>
                          <a:cs typeface="Geist" pitchFamily="34" charset="-120"/>
                        </a:rPr>
                        <a:t>Actuators</a:t>
                      </a:r>
                      <a:endParaRPr lang="en-US" sz="1400" dirty="0">
                        <a:latin typeface="Geist" charset="0"/>
                        <a:ea typeface="Geist" charset="0"/>
                        <a:cs typeface="Geist" charset="0"/>
                      </a:endParaRPr>
                    </a:p>
                  </a:txBody>
                  <a:tcPr marL="179568" marR="179568" marT="6350" marB="635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EBEDF0"/>
                          </a:solidFill>
                          <a:latin typeface="Geist" pitchFamily="34" charset="0"/>
                          <a:ea typeface="Geist" pitchFamily="34" charset="-122"/>
                          <a:cs typeface="Geist" pitchFamily="34" charset="-120"/>
                        </a:rPr>
                        <a:t>MG90S Metal-Gear Servos (2.2 kg·cm)</a:t>
                      </a:r>
                      <a:endParaRPr lang="en-US" sz="1400" dirty="0">
                        <a:latin typeface="Geist" charset="0"/>
                        <a:ea typeface="Geist" charset="0"/>
                        <a:cs typeface="Geist" charset="0"/>
                      </a:endParaRPr>
                    </a:p>
                  </a:txBody>
                  <a:tcPr marL="179568" marR="179568" marT="6350" marB="635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EBEDF0"/>
                          </a:solidFill>
                          <a:latin typeface="Geist" pitchFamily="34" charset="0"/>
                          <a:ea typeface="Geist" pitchFamily="34" charset="-122"/>
                          <a:cs typeface="Geist" pitchFamily="34" charset="-120"/>
                        </a:rPr>
                        <a:t>3</a:t>
                      </a:r>
                      <a:endParaRPr lang="en-US" sz="1400" dirty="0">
                        <a:latin typeface="Geist" charset="0"/>
                        <a:ea typeface="Geist" charset="0"/>
                        <a:cs typeface="Geist" charset="0"/>
                      </a:endParaRPr>
                    </a:p>
                  </a:txBody>
                  <a:tcPr marL="179568" marR="179568" marT="6350" marB="635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EBEDF0"/>
                          </a:solidFill>
                          <a:latin typeface="Geist" pitchFamily="34" charset="0"/>
                          <a:ea typeface="Geist" pitchFamily="34" charset="-122"/>
                          <a:cs typeface="Geist" pitchFamily="34" charset="-120"/>
                        </a:rPr>
                        <a:t>₹439</a:t>
                      </a:r>
                      <a:endParaRPr lang="en-US" sz="1400" dirty="0">
                        <a:latin typeface="Geist" charset="0"/>
                        <a:ea typeface="Geist" charset="0"/>
                        <a:cs typeface="Geist" charset="0"/>
                      </a:endParaRPr>
                    </a:p>
                  </a:txBody>
                  <a:tcPr marL="179568" marR="179568" marT="6350" marB="635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EBEDF0"/>
                          </a:solidFill>
                          <a:latin typeface="Geist" pitchFamily="34" charset="0"/>
                          <a:ea typeface="Geist" pitchFamily="34" charset="-122"/>
                          <a:cs typeface="Geist" pitchFamily="34" charset="-120"/>
                        </a:rPr>
                        <a:t>₹439</a:t>
                      </a:r>
                      <a:endParaRPr lang="en-US" sz="1400" dirty="0">
                        <a:latin typeface="Geist" charset="0"/>
                        <a:ea typeface="Geist" charset="0"/>
                        <a:cs typeface="Geist" charset="0"/>
                      </a:endParaRPr>
                    </a:p>
                  </a:txBody>
                  <a:tcPr marL="179568" marR="179568" marT="6350" marB="6350" anchor="ctr">
                    <a:lnL w="0" cap="flat" cmpd="sng" algn="ctr">
                      <a:noFill/>
                    </a:lnL>
                    <a:lnR w="0" cap="flat" cmpd="sng" algn="ctr">
                      <a:noFill/>
                    </a:lnR>
                    <a:lnT w="0" cap="flat" cmpd="sng" algn="ctr">
                      <a:noFill/>
                    </a:lnT>
                    <a:lnB w="0" cap="flat" cmpd="sng" algn="ctr">
                      <a:noFill/>
                    </a:lnB>
                  </a:tcPr>
                </a:tc>
              </a:tr>
              <a:tr h="451236">
                <a:tc>
                  <a:txBody>
                    <a:bodyPr/>
                    <a:lstStyle/>
                    <a:p>
                      <a:pPr indent="0" marL="0">
                        <a:buNone/>
                      </a:pPr>
                      <a:r>
                        <a:rPr lang="en-US" sz="1400" dirty="0">
                          <a:solidFill>
                            <a:srgbClr val="EBEDF0"/>
                          </a:solidFill>
                          <a:latin typeface="Geist" pitchFamily="34" charset="0"/>
                          <a:ea typeface="Geist" pitchFamily="34" charset="-122"/>
                          <a:cs typeface="Geist" pitchFamily="34" charset="-120"/>
                        </a:rPr>
                        <a:t>Control</a:t>
                      </a:r>
                      <a:endParaRPr lang="en-US" sz="1400" dirty="0">
                        <a:latin typeface="Geist" charset="0"/>
                        <a:ea typeface="Geist" charset="0"/>
                        <a:cs typeface="Geist" charset="0"/>
                      </a:endParaRPr>
                    </a:p>
                  </a:txBody>
                  <a:tcPr marL="179568" marR="179568" marT="6350" marB="635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EBEDF0"/>
                          </a:solidFill>
                          <a:latin typeface="Geist" pitchFamily="34" charset="0"/>
                          <a:ea typeface="Geist" pitchFamily="34" charset="-122"/>
                          <a:cs typeface="Geist" pitchFamily="34" charset="-120"/>
                        </a:rPr>
                        <a:t>PCA9685 16-Channel Servo Driver</a:t>
                      </a:r>
                      <a:endParaRPr lang="en-US" sz="1400" dirty="0">
                        <a:latin typeface="Geist" charset="0"/>
                        <a:ea typeface="Geist" charset="0"/>
                        <a:cs typeface="Geist" charset="0"/>
                      </a:endParaRPr>
                    </a:p>
                  </a:txBody>
                  <a:tcPr marL="179568" marR="179568" marT="6350" marB="635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EBEDF0"/>
                          </a:solidFill>
                          <a:latin typeface="Geist" pitchFamily="34" charset="0"/>
                          <a:ea typeface="Geist" pitchFamily="34" charset="-122"/>
                          <a:cs typeface="Geist" pitchFamily="34" charset="-120"/>
                        </a:rPr>
                        <a:t>1</a:t>
                      </a:r>
                      <a:endParaRPr lang="en-US" sz="1400" dirty="0">
                        <a:latin typeface="Geist" charset="0"/>
                        <a:ea typeface="Geist" charset="0"/>
                        <a:cs typeface="Geist" charset="0"/>
                      </a:endParaRPr>
                    </a:p>
                  </a:txBody>
                  <a:tcPr marL="179568" marR="179568" marT="6350" marB="635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EBEDF0"/>
                          </a:solidFill>
                          <a:latin typeface="Geist" pitchFamily="34" charset="0"/>
                          <a:ea typeface="Geist" pitchFamily="34" charset="-122"/>
                          <a:cs typeface="Geist" pitchFamily="34" charset="-120"/>
                        </a:rPr>
                        <a:t>₹480</a:t>
                      </a:r>
                      <a:endParaRPr lang="en-US" sz="1400" dirty="0">
                        <a:latin typeface="Geist" charset="0"/>
                        <a:ea typeface="Geist" charset="0"/>
                        <a:cs typeface="Geist" charset="0"/>
                      </a:endParaRPr>
                    </a:p>
                  </a:txBody>
                  <a:tcPr marL="179568" marR="179568" marT="6350" marB="635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EBEDF0"/>
                          </a:solidFill>
                          <a:latin typeface="Geist" pitchFamily="34" charset="0"/>
                          <a:ea typeface="Geist" pitchFamily="34" charset="-122"/>
                          <a:cs typeface="Geist" pitchFamily="34" charset="-120"/>
                        </a:rPr>
                        <a:t>₹480</a:t>
                      </a:r>
                      <a:endParaRPr lang="en-US" sz="1400" dirty="0">
                        <a:latin typeface="Geist" charset="0"/>
                        <a:ea typeface="Geist" charset="0"/>
                        <a:cs typeface="Geist" charset="0"/>
                      </a:endParaRPr>
                    </a:p>
                  </a:txBody>
                  <a:tcPr marL="179568" marR="179568" marT="6350" marB="6350" anchor="ctr">
                    <a:lnL w="0" cap="flat" cmpd="sng" algn="ctr">
                      <a:noFill/>
                    </a:lnL>
                    <a:lnR w="0" cap="flat" cmpd="sng" algn="ctr">
                      <a:noFill/>
                    </a:lnR>
                    <a:lnT w="0" cap="flat" cmpd="sng" algn="ctr">
                      <a:noFill/>
                    </a:lnT>
                    <a:lnB w="0" cap="flat" cmpd="sng" algn="ctr">
                      <a:noFill/>
                    </a:lnB>
                  </a:tcPr>
                </a:tc>
              </a:tr>
              <a:tr h="451236">
                <a:tc>
                  <a:txBody>
                    <a:bodyPr/>
                    <a:lstStyle/>
                    <a:p>
                      <a:pPr indent="0" marL="0">
                        <a:buNone/>
                      </a:pPr>
                      <a:r>
                        <a:rPr lang="en-US" sz="1400" dirty="0">
                          <a:solidFill>
                            <a:srgbClr val="EBEDF0"/>
                          </a:solidFill>
                          <a:latin typeface="Geist" pitchFamily="34" charset="0"/>
                          <a:ea typeface="Geist" pitchFamily="34" charset="-122"/>
                          <a:cs typeface="Geist" pitchFamily="34" charset="-120"/>
                        </a:rPr>
                        <a:t>Main Brain</a:t>
                      </a:r>
                      <a:endParaRPr lang="en-US" sz="1400" dirty="0">
                        <a:latin typeface="Geist" charset="0"/>
                        <a:ea typeface="Geist" charset="0"/>
                        <a:cs typeface="Geist" charset="0"/>
                      </a:endParaRPr>
                    </a:p>
                  </a:txBody>
                  <a:tcPr marL="179568" marR="179568" marT="6350" marB="635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EBEDF0"/>
                          </a:solidFill>
                          <a:latin typeface="Geist" pitchFamily="34" charset="0"/>
                          <a:ea typeface="Geist" pitchFamily="34" charset="-122"/>
                          <a:cs typeface="Geist" pitchFamily="34" charset="-120"/>
                        </a:rPr>
                        <a:t>ESP32 Dev Board + GPIO Expansion</a:t>
                      </a:r>
                      <a:endParaRPr lang="en-US" sz="1400" dirty="0">
                        <a:latin typeface="Geist" charset="0"/>
                        <a:ea typeface="Geist" charset="0"/>
                        <a:cs typeface="Geist" charset="0"/>
                      </a:endParaRPr>
                    </a:p>
                  </a:txBody>
                  <a:tcPr marL="179568" marR="179568" marT="6350" marB="635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EBEDF0"/>
                          </a:solidFill>
                          <a:latin typeface="Geist" pitchFamily="34" charset="0"/>
                          <a:ea typeface="Geist" pitchFamily="34" charset="-122"/>
                          <a:cs typeface="Geist" pitchFamily="34" charset="-120"/>
                        </a:rPr>
                        <a:t>1 ea</a:t>
                      </a:r>
                      <a:endParaRPr lang="en-US" sz="1400" dirty="0">
                        <a:latin typeface="Geist" charset="0"/>
                        <a:ea typeface="Geist" charset="0"/>
                        <a:cs typeface="Geist" charset="0"/>
                      </a:endParaRPr>
                    </a:p>
                  </a:txBody>
                  <a:tcPr marL="179568" marR="179568" marT="6350" marB="635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EBEDF0"/>
                          </a:solidFill>
                          <a:latin typeface="Geist" pitchFamily="34" charset="0"/>
                          <a:ea typeface="Geist" pitchFamily="34" charset="-122"/>
                          <a:cs typeface="Geist" pitchFamily="34" charset="-120"/>
                        </a:rPr>
                        <a:t>₹342 / ₹219</a:t>
                      </a:r>
                      <a:endParaRPr lang="en-US" sz="1400" dirty="0">
                        <a:latin typeface="Geist" charset="0"/>
                        <a:ea typeface="Geist" charset="0"/>
                        <a:cs typeface="Geist" charset="0"/>
                      </a:endParaRPr>
                    </a:p>
                  </a:txBody>
                  <a:tcPr marL="179568" marR="179568" marT="6350" marB="635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EBEDF0"/>
                          </a:solidFill>
                          <a:latin typeface="Geist" pitchFamily="34" charset="0"/>
                          <a:ea typeface="Geist" pitchFamily="34" charset="-122"/>
                          <a:cs typeface="Geist" pitchFamily="34" charset="-120"/>
                        </a:rPr>
                        <a:t>₹561</a:t>
                      </a:r>
                      <a:endParaRPr lang="en-US" sz="1400" dirty="0">
                        <a:latin typeface="Geist" charset="0"/>
                        <a:ea typeface="Geist" charset="0"/>
                        <a:cs typeface="Geist" charset="0"/>
                      </a:endParaRPr>
                    </a:p>
                  </a:txBody>
                  <a:tcPr marL="179568" marR="179568" marT="6350" marB="6350" anchor="ctr">
                    <a:lnL w="0" cap="flat" cmpd="sng" algn="ctr">
                      <a:noFill/>
                    </a:lnL>
                    <a:lnR w="0" cap="flat" cmpd="sng" algn="ctr">
                      <a:noFill/>
                    </a:lnR>
                    <a:lnT w="0" cap="flat" cmpd="sng" algn="ctr">
                      <a:noFill/>
                    </a:lnT>
                    <a:lnB w="0" cap="flat" cmpd="sng" algn="ctr">
                      <a:noFill/>
                    </a:lnB>
                  </a:tcPr>
                </a:tc>
              </a:tr>
              <a:tr h="451236">
                <a:tc>
                  <a:txBody>
                    <a:bodyPr/>
                    <a:lstStyle/>
                    <a:p>
                      <a:pPr indent="0" marL="0">
                        <a:buNone/>
                      </a:pPr>
                      <a:r>
                        <a:rPr lang="en-US" sz="1400" dirty="0">
                          <a:solidFill>
                            <a:srgbClr val="EBEDF0"/>
                          </a:solidFill>
                          <a:latin typeface="Geist" pitchFamily="34" charset="0"/>
                          <a:ea typeface="Geist" pitchFamily="34" charset="-122"/>
                          <a:cs typeface="Geist" pitchFamily="34" charset="-120"/>
                        </a:rPr>
                        <a:t>Vision</a:t>
                      </a:r>
                      <a:endParaRPr lang="en-US" sz="1400" dirty="0">
                        <a:latin typeface="Geist" charset="0"/>
                        <a:ea typeface="Geist" charset="0"/>
                        <a:cs typeface="Geist" charset="0"/>
                      </a:endParaRPr>
                    </a:p>
                  </a:txBody>
                  <a:tcPr marL="179568" marR="179568" marT="6350" marB="635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EBEDF0"/>
                          </a:solidFill>
                          <a:latin typeface="Geist" pitchFamily="34" charset="0"/>
                          <a:ea typeface="Geist" pitchFamily="34" charset="-122"/>
                          <a:cs typeface="Geist" pitchFamily="34" charset="-120"/>
                        </a:rPr>
                        <a:t>ESP32-CAM (OV2640)</a:t>
                      </a:r>
                      <a:endParaRPr lang="en-US" sz="1400" dirty="0">
                        <a:latin typeface="Geist" charset="0"/>
                        <a:ea typeface="Geist" charset="0"/>
                        <a:cs typeface="Geist" charset="0"/>
                      </a:endParaRPr>
                    </a:p>
                  </a:txBody>
                  <a:tcPr marL="179568" marR="179568" marT="6350" marB="635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EBEDF0"/>
                          </a:solidFill>
                          <a:latin typeface="Geist" pitchFamily="34" charset="0"/>
                          <a:ea typeface="Geist" pitchFamily="34" charset="-122"/>
                          <a:cs typeface="Geist" pitchFamily="34" charset="-120"/>
                        </a:rPr>
                        <a:t>1</a:t>
                      </a:r>
                      <a:endParaRPr lang="en-US" sz="1400" dirty="0">
                        <a:latin typeface="Geist" charset="0"/>
                        <a:ea typeface="Geist" charset="0"/>
                        <a:cs typeface="Geist" charset="0"/>
                      </a:endParaRPr>
                    </a:p>
                  </a:txBody>
                  <a:tcPr marL="179568" marR="179568" marT="6350" marB="635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EBEDF0"/>
                          </a:solidFill>
                          <a:latin typeface="Geist" pitchFamily="34" charset="0"/>
                          <a:ea typeface="Geist" pitchFamily="34" charset="-122"/>
                          <a:cs typeface="Geist" pitchFamily="34" charset="-120"/>
                        </a:rPr>
                        <a:t>₹849</a:t>
                      </a:r>
                      <a:endParaRPr lang="en-US" sz="1400" dirty="0">
                        <a:latin typeface="Geist" charset="0"/>
                        <a:ea typeface="Geist" charset="0"/>
                        <a:cs typeface="Geist" charset="0"/>
                      </a:endParaRPr>
                    </a:p>
                  </a:txBody>
                  <a:tcPr marL="179568" marR="179568" marT="6350" marB="635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EBEDF0"/>
                          </a:solidFill>
                          <a:latin typeface="Geist" pitchFamily="34" charset="0"/>
                          <a:ea typeface="Geist" pitchFamily="34" charset="-122"/>
                          <a:cs typeface="Geist" pitchFamily="34" charset="-120"/>
                        </a:rPr>
                        <a:t>₹849</a:t>
                      </a:r>
                      <a:endParaRPr lang="en-US" sz="1400" dirty="0">
                        <a:latin typeface="Geist" charset="0"/>
                        <a:ea typeface="Geist" charset="0"/>
                        <a:cs typeface="Geist" charset="0"/>
                      </a:endParaRPr>
                    </a:p>
                  </a:txBody>
                  <a:tcPr marL="179568" marR="179568" marT="6350" marB="6350" anchor="ctr">
                    <a:lnL w="0" cap="flat" cmpd="sng" algn="ctr">
                      <a:noFill/>
                    </a:lnL>
                    <a:lnR w="0" cap="flat" cmpd="sng" algn="ctr">
                      <a:noFill/>
                    </a:lnR>
                    <a:lnT w="0" cap="flat" cmpd="sng" algn="ctr">
                      <a:noFill/>
                    </a:lnT>
                    <a:lnB w="0" cap="flat" cmpd="sng" algn="ctr">
                      <a:noFill/>
                    </a:lnB>
                  </a:tcPr>
                </a:tc>
              </a:tr>
              <a:tr h="451236">
                <a:tc>
                  <a:txBody>
                    <a:bodyPr/>
                    <a:lstStyle/>
                    <a:p>
                      <a:pPr indent="0" marL="0">
                        <a:buNone/>
                      </a:pPr>
                      <a:r>
                        <a:rPr lang="en-US" sz="1400" dirty="0">
                          <a:solidFill>
                            <a:srgbClr val="EBEDF0"/>
                          </a:solidFill>
                          <a:latin typeface="Geist" pitchFamily="34" charset="0"/>
                          <a:ea typeface="Geist" pitchFamily="34" charset="-122"/>
                          <a:cs typeface="Geist" pitchFamily="34" charset="-120"/>
                        </a:rPr>
                        <a:t>Power</a:t>
                      </a:r>
                      <a:endParaRPr lang="en-US" sz="1400" dirty="0">
                        <a:latin typeface="Geist" charset="0"/>
                        <a:ea typeface="Geist" charset="0"/>
                        <a:cs typeface="Geist" charset="0"/>
                      </a:endParaRPr>
                    </a:p>
                  </a:txBody>
                  <a:tcPr marL="179568" marR="179568" marT="6350" marB="635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EBEDF0"/>
                          </a:solidFill>
                          <a:latin typeface="Geist" pitchFamily="34" charset="0"/>
                          <a:ea typeface="Geist" pitchFamily="34" charset="-122"/>
                          <a:cs typeface="Geist" pitchFamily="34" charset="-120"/>
                        </a:rPr>
                        <a:t>3S LiPo Battery 2200mAh + iMAX B6 Charger</a:t>
                      </a:r>
                      <a:endParaRPr lang="en-US" sz="1400" dirty="0">
                        <a:latin typeface="Geist" charset="0"/>
                        <a:ea typeface="Geist" charset="0"/>
                        <a:cs typeface="Geist" charset="0"/>
                      </a:endParaRPr>
                    </a:p>
                  </a:txBody>
                  <a:tcPr marL="179568" marR="179568" marT="6350" marB="635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EBEDF0"/>
                          </a:solidFill>
                          <a:latin typeface="Geist" pitchFamily="34" charset="0"/>
                          <a:ea typeface="Geist" pitchFamily="34" charset="-122"/>
                          <a:cs typeface="Geist" pitchFamily="34" charset="-120"/>
                        </a:rPr>
                        <a:t>1 ea</a:t>
                      </a:r>
                      <a:endParaRPr lang="en-US" sz="1400" dirty="0">
                        <a:latin typeface="Geist" charset="0"/>
                        <a:ea typeface="Geist" charset="0"/>
                        <a:cs typeface="Geist" charset="0"/>
                      </a:endParaRPr>
                    </a:p>
                  </a:txBody>
                  <a:tcPr marL="179568" marR="179568" marT="6350" marB="635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EBEDF0"/>
                          </a:solidFill>
                          <a:latin typeface="Geist" pitchFamily="34" charset="0"/>
                          <a:ea typeface="Geist" pitchFamily="34" charset="-122"/>
                          <a:cs typeface="Geist" pitchFamily="34" charset="-120"/>
                        </a:rPr>
                        <a:t>₹1,899 / ₹2,689</a:t>
                      </a:r>
                      <a:endParaRPr lang="en-US" sz="1400" dirty="0">
                        <a:latin typeface="Geist" charset="0"/>
                        <a:ea typeface="Geist" charset="0"/>
                        <a:cs typeface="Geist" charset="0"/>
                      </a:endParaRPr>
                    </a:p>
                  </a:txBody>
                  <a:tcPr marL="179568" marR="179568" marT="6350" marB="635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EBEDF0"/>
                          </a:solidFill>
                          <a:latin typeface="Geist" pitchFamily="34" charset="0"/>
                          <a:ea typeface="Geist" pitchFamily="34" charset="-122"/>
                          <a:cs typeface="Geist" pitchFamily="34" charset="-120"/>
                        </a:rPr>
                        <a:t>₹4,588</a:t>
                      </a:r>
                      <a:endParaRPr lang="en-US" sz="1400" dirty="0">
                        <a:latin typeface="Geist" charset="0"/>
                        <a:ea typeface="Geist" charset="0"/>
                        <a:cs typeface="Geist" charset="0"/>
                      </a:endParaRPr>
                    </a:p>
                  </a:txBody>
                  <a:tcPr marL="179568" marR="179568" marT="6350" marB="6350" anchor="ctr">
                    <a:lnL w="0" cap="flat" cmpd="sng" algn="ctr">
                      <a:noFill/>
                    </a:lnL>
                    <a:lnR w="0" cap="flat" cmpd="sng" algn="ctr">
                      <a:noFill/>
                    </a:lnR>
                    <a:lnT w="0" cap="flat" cmpd="sng" algn="ctr">
                      <a:noFill/>
                    </a:lnT>
                    <a:lnB w="0" cap="flat" cmpd="sng" algn="ctr">
                      <a:noFill/>
                    </a:lnB>
                  </a:tcPr>
                </a:tc>
              </a:tr>
              <a:tr h="451236">
                <a:tc>
                  <a:txBody>
                    <a:bodyPr/>
                    <a:lstStyle/>
                    <a:p>
                      <a:pPr indent="0" marL="0">
                        <a:buNone/>
                      </a:pPr>
                      <a:r>
                        <a:rPr lang="en-US" sz="1400" dirty="0">
                          <a:solidFill>
                            <a:srgbClr val="EBEDF0"/>
                          </a:solidFill>
                          <a:latin typeface="Geist" pitchFamily="34" charset="0"/>
                          <a:ea typeface="Geist" pitchFamily="34" charset="-122"/>
                          <a:cs typeface="Geist" pitchFamily="34" charset="-120"/>
                        </a:rPr>
                        <a:t>Power</a:t>
                      </a:r>
                      <a:endParaRPr lang="en-US" sz="1400" dirty="0">
                        <a:latin typeface="Geist" charset="0"/>
                        <a:ea typeface="Geist" charset="0"/>
                        <a:cs typeface="Geist" charset="0"/>
                      </a:endParaRPr>
                    </a:p>
                  </a:txBody>
                  <a:tcPr marL="179568" marR="179568" marT="6350" marB="635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EBEDF0"/>
                          </a:solidFill>
                          <a:latin typeface="Geist" pitchFamily="34" charset="0"/>
                          <a:ea typeface="Geist" pitchFamily="34" charset="-122"/>
                          <a:cs typeface="Geist" pitchFamily="34" charset="-120"/>
                        </a:rPr>
                        <a:t>XL4015 5A Buck Converter</a:t>
                      </a:r>
                      <a:endParaRPr lang="en-US" sz="1400" dirty="0">
                        <a:latin typeface="Geist" charset="0"/>
                        <a:ea typeface="Geist" charset="0"/>
                        <a:cs typeface="Geist" charset="0"/>
                      </a:endParaRPr>
                    </a:p>
                  </a:txBody>
                  <a:tcPr marL="179568" marR="179568" marT="6350" marB="635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EBEDF0"/>
                          </a:solidFill>
                          <a:latin typeface="Geist" pitchFamily="34" charset="0"/>
                          <a:ea typeface="Geist" pitchFamily="34" charset="-122"/>
                          <a:cs typeface="Geist" pitchFamily="34" charset="-120"/>
                        </a:rPr>
                        <a:t>1</a:t>
                      </a:r>
                      <a:endParaRPr lang="en-US" sz="1400" dirty="0">
                        <a:latin typeface="Geist" charset="0"/>
                        <a:ea typeface="Geist" charset="0"/>
                        <a:cs typeface="Geist" charset="0"/>
                      </a:endParaRPr>
                    </a:p>
                  </a:txBody>
                  <a:tcPr marL="179568" marR="179568" marT="6350" marB="635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EBEDF0"/>
                          </a:solidFill>
                          <a:latin typeface="Geist" pitchFamily="34" charset="0"/>
                          <a:ea typeface="Geist" pitchFamily="34" charset="-122"/>
                          <a:cs typeface="Geist" pitchFamily="34" charset="-120"/>
                        </a:rPr>
                        <a:t>₹249</a:t>
                      </a:r>
                      <a:endParaRPr lang="en-US" sz="1400" dirty="0">
                        <a:latin typeface="Geist" charset="0"/>
                        <a:ea typeface="Geist" charset="0"/>
                        <a:cs typeface="Geist" charset="0"/>
                      </a:endParaRPr>
                    </a:p>
                  </a:txBody>
                  <a:tcPr marL="179568" marR="179568" marT="6350" marB="635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EBEDF0"/>
                          </a:solidFill>
                          <a:latin typeface="Geist" pitchFamily="34" charset="0"/>
                          <a:ea typeface="Geist" pitchFamily="34" charset="-122"/>
                          <a:cs typeface="Geist" pitchFamily="34" charset="-120"/>
                        </a:rPr>
                        <a:t>₹249</a:t>
                      </a:r>
                      <a:endParaRPr lang="en-US" sz="1400" dirty="0">
                        <a:latin typeface="Geist" charset="0"/>
                        <a:ea typeface="Geist" charset="0"/>
                        <a:cs typeface="Geist" charset="0"/>
                      </a:endParaRPr>
                    </a:p>
                  </a:txBody>
                  <a:tcPr marL="179568" marR="179568" marT="6350" marB="6350" anchor="ctr">
                    <a:lnL w="0" cap="flat" cmpd="sng" algn="ctr">
                      <a:noFill/>
                    </a:lnL>
                    <a:lnR w="0" cap="flat" cmpd="sng" algn="ctr">
                      <a:noFill/>
                    </a:lnR>
                    <a:lnT w="0" cap="flat" cmpd="sng" algn="ctr">
                      <a:noFill/>
                    </a:lnT>
                    <a:lnB w="0" cap="flat" cmpd="sng" algn="ctr">
                      <a:noFill/>
                    </a:lnB>
                  </a:tcPr>
                </a:tc>
              </a:tr>
              <a:tr h="448061">
                <a:tc>
                  <a:txBody>
                    <a:bodyPr/>
                    <a:lstStyle/>
                    <a:p>
                      <a:pPr indent="0" marL="0">
                        <a:buNone/>
                      </a:pPr>
                      <a:r>
                        <a:rPr lang="en-US" sz="1400" dirty="0">
                          <a:solidFill>
                            <a:srgbClr val="EBEDF0"/>
                          </a:solidFill>
                          <a:latin typeface="Geist" pitchFamily="34" charset="0"/>
                          <a:ea typeface="Geist" pitchFamily="34" charset="-122"/>
                          <a:cs typeface="Geist" pitchFamily="34" charset="-120"/>
                        </a:rPr>
                        <a:t>Wiring</a:t>
                      </a:r>
                      <a:endParaRPr lang="en-US" sz="1400" dirty="0">
                        <a:latin typeface="Geist" charset="0"/>
                        <a:ea typeface="Geist" charset="0"/>
                        <a:cs typeface="Geist" charset="0"/>
                      </a:endParaRPr>
                    </a:p>
                  </a:txBody>
                  <a:tcPr marL="179568" marR="179568" marT="6350" marB="635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EBEDF0"/>
                          </a:solidFill>
                          <a:latin typeface="Geist" pitchFamily="34" charset="0"/>
                          <a:ea typeface="Geist" pitchFamily="34" charset="-122"/>
                          <a:cs typeface="Geist" pitchFamily="34" charset="-120"/>
                        </a:rPr>
                        <a:t>Jumper Wires, Extension Cables, Shrink Wrap</a:t>
                      </a:r>
                      <a:endParaRPr lang="en-US" sz="1400" dirty="0">
                        <a:latin typeface="Geist" charset="0"/>
                        <a:ea typeface="Geist" charset="0"/>
                        <a:cs typeface="Geist" charset="0"/>
                      </a:endParaRPr>
                    </a:p>
                  </a:txBody>
                  <a:tcPr marL="179568" marR="179568" marT="6350" marB="635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EBEDF0"/>
                          </a:solidFill>
                          <a:latin typeface="Geist" pitchFamily="34" charset="0"/>
                          <a:ea typeface="Geist" pitchFamily="34" charset="-122"/>
                          <a:cs typeface="Geist" pitchFamily="34" charset="-120"/>
                        </a:rPr>
                        <a:t>—</a:t>
                      </a:r>
                      <a:endParaRPr lang="en-US" sz="1400" dirty="0">
                        <a:latin typeface="Geist" charset="0"/>
                        <a:ea typeface="Geist" charset="0"/>
                        <a:cs typeface="Geist" charset="0"/>
                      </a:endParaRPr>
                    </a:p>
                  </a:txBody>
                  <a:tcPr marL="179568" marR="179568" marT="6350" marB="635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EBEDF0"/>
                          </a:solidFill>
                          <a:latin typeface="Geist" pitchFamily="34" charset="0"/>
                          <a:ea typeface="Geist" pitchFamily="34" charset="-122"/>
                          <a:cs typeface="Geist" pitchFamily="34" charset="-120"/>
                        </a:rPr>
                        <a:t>—</a:t>
                      </a:r>
                      <a:endParaRPr lang="en-US" sz="1400" dirty="0">
                        <a:latin typeface="Geist" charset="0"/>
                        <a:ea typeface="Geist" charset="0"/>
                        <a:cs typeface="Geist" charset="0"/>
                      </a:endParaRPr>
                    </a:p>
                  </a:txBody>
                  <a:tcPr marL="179568" marR="179568" marT="6350" marB="635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EBEDF0"/>
                          </a:solidFill>
                          <a:latin typeface="Geist" pitchFamily="34" charset="0"/>
                          <a:ea typeface="Geist" pitchFamily="34" charset="-122"/>
                          <a:cs typeface="Geist" pitchFamily="34" charset="-120"/>
                        </a:rPr>
                        <a:t>₹698</a:t>
                      </a:r>
                      <a:endParaRPr lang="en-US" sz="1400" dirty="0">
                        <a:latin typeface="Geist" charset="0"/>
                        <a:ea typeface="Geist" charset="0"/>
                        <a:cs typeface="Geist" charset="0"/>
                      </a:endParaRPr>
                    </a:p>
                  </a:txBody>
                  <a:tcPr marL="179568" marR="179568" marT="6350" marB="6350" anchor="ctr">
                    <a:lnL w="0" cap="flat" cmpd="sng" algn="ctr">
                      <a:noFill/>
                    </a:lnL>
                    <a:lnR w="0" cap="flat" cmpd="sng" algn="ctr">
                      <a:noFill/>
                    </a:lnR>
                    <a:lnT w="0" cap="flat" cmpd="sng" algn="ctr">
                      <a:noFill/>
                    </a:lnT>
                    <a:lnB w="0" cap="flat" cmpd="sng" algn="ctr">
                      <a:noFill/>
                    </a:lnB>
                  </a:tcPr>
                </a:tc>
              </a:tr>
            </a:tbl>
          </a:graphicData>
        </a:graphic>
      </p:graphicFrame>
      <p:sp>
        <p:nvSpPr>
          <p:cNvPr id="4" name="Shape 1"/>
          <p:cNvSpPr/>
          <p:nvPr/>
        </p:nvSpPr>
        <p:spPr>
          <a:xfrm>
            <a:off x="661475" y="2294411"/>
            <a:ext cx="10868745" cy="11223"/>
          </a:xfrm>
          <a:prstGeom prst="rect">
            <a:avLst/>
          </a:prstGeom>
          <a:solidFill>
            <a:srgbClr val="FFFFFF">
              <a:alpha val="24000"/>
            </a:srgbClr>
          </a:solidFill>
          <a:ln/>
        </p:spPr>
      </p:sp>
      <p:sp>
        <p:nvSpPr>
          <p:cNvPr id="5" name="Shape 2"/>
          <p:cNvSpPr/>
          <p:nvPr/>
        </p:nvSpPr>
        <p:spPr>
          <a:xfrm>
            <a:off x="661475" y="2745647"/>
            <a:ext cx="10868745" cy="11223"/>
          </a:xfrm>
          <a:prstGeom prst="rect">
            <a:avLst/>
          </a:prstGeom>
          <a:solidFill>
            <a:srgbClr val="FFFFFF">
              <a:alpha val="24000"/>
            </a:srgbClr>
          </a:solidFill>
          <a:ln/>
        </p:spPr>
      </p:sp>
      <p:sp>
        <p:nvSpPr>
          <p:cNvPr id="6" name="Shape 3"/>
          <p:cNvSpPr/>
          <p:nvPr/>
        </p:nvSpPr>
        <p:spPr>
          <a:xfrm>
            <a:off x="661475" y="3196882"/>
            <a:ext cx="10868745" cy="11223"/>
          </a:xfrm>
          <a:prstGeom prst="rect">
            <a:avLst/>
          </a:prstGeom>
          <a:solidFill>
            <a:srgbClr val="FFFFFF">
              <a:alpha val="24000"/>
            </a:srgbClr>
          </a:solidFill>
          <a:ln/>
        </p:spPr>
      </p:sp>
      <p:sp>
        <p:nvSpPr>
          <p:cNvPr id="7" name="Shape 4"/>
          <p:cNvSpPr/>
          <p:nvPr/>
        </p:nvSpPr>
        <p:spPr>
          <a:xfrm>
            <a:off x="661475" y="3648118"/>
            <a:ext cx="10868745" cy="11223"/>
          </a:xfrm>
          <a:prstGeom prst="rect">
            <a:avLst/>
          </a:prstGeom>
          <a:solidFill>
            <a:srgbClr val="FFFFFF">
              <a:alpha val="24000"/>
            </a:srgbClr>
          </a:solidFill>
          <a:ln/>
        </p:spPr>
      </p:sp>
      <p:sp>
        <p:nvSpPr>
          <p:cNvPr id="8" name="Shape 5"/>
          <p:cNvSpPr/>
          <p:nvPr/>
        </p:nvSpPr>
        <p:spPr>
          <a:xfrm>
            <a:off x="661475" y="4099353"/>
            <a:ext cx="10868745" cy="11223"/>
          </a:xfrm>
          <a:prstGeom prst="rect">
            <a:avLst/>
          </a:prstGeom>
          <a:solidFill>
            <a:srgbClr val="FFFFFF">
              <a:alpha val="24000"/>
            </a:srgbClr>
          </a:solidFill>
          <a:ln/>
        </p:spPr>
      </p:sp>
      <p:sp>
        <p:nvSpPr>
          <p:cNvPr id="9" name="Shape 6"/>
          <p:cNvSpPr/>
          <p:nvPr/>
        </p:nvSpPr>
        <p:spPr>
          <a:xfrm>
            <a:off x="661475" y="4550589"/>
            <a:ext cx="10868745" cy="11223"/>
          </a:xfrm>
          <a:prstGeom prst="rect">
            <a:avLst/>
          </a:prstGeom>
          <a:solidFill>
            <a:srgbClr val="FFFFFF">
              <a:alpha val="24000"/>
            </a:srgbClr>
          </a:solidFill>
          <a:ln/>
        </p:spPr>
      </p:sp>
      <p:sp>
        <p:nvSpPr>
          <p:cNvPr id="10" name="Shape 7"/>
          <p:cNvSpPr/>
          <p:nvPr/>
        </p:nvSpPr>
        <p:spPr>
          <a:xfrm>
            <a:off x="661475" y="5001825"/>
            <a:ext cx="10868745" cy="11223"/>
          </a:xfrm>
          <a:prstGeom prst="rect">
            <a:avLst/>
          </a:prstGeom>
          <a:solidFill>
            <a:srgbClr val="FFFFFF">
              <a:alpha val="24000"/>
            </a:srgbClr>
          </a:solidFill>
          <a:ln/>
        </p:spPr>
      </p:sp>
      <p:sp>
        <p:nvSpPr>
          <p:cNvPr id="11" name="Shape 8"/>
          <p:cNvSpPr/>
          <p:nvPr/>
        </p:nvSpPr>
        <p:spPr>
          <a:xfrm>
            <a:off x="661475" y="5453060"/>
            <a:ext cx="10868745" cy="11223"/>
          </a:xfrm>
          <a:prstGeom prst="rect">
            <a:avLst/>
          </a:prstGeom>
          <a:solidFill>
            <a:srgbClr val="FFFFFF">
              <a:alpha val="24000"/>
            </a:srgbClr>
          </a:solidFill>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732929"/>
            <a:ext cx="10868745" cy="552946"/>
          </a:xfrm>
          <a:prstGeom prst="rect">
            <a:avLst/>
          </a:prstGeom>
          <a:noFill/>
          <a:ln/>
        </p:spPr>
        <p:txBody>
          <a:bodyPr wrap="none" lIns="0" tIns="0" rIns="0" bIns="0" rtlCol="0" anchor="t"/>
          <a:lstStyle/>
          <a:p>
            <a:pPr algn="l" indent="0" marL="0">
              <a:lnSpc>
                <a:spcPct val="108000"/>
              </a:lnSpc>
              <a:buNone/>
            </a:pPr>
            <a:r>
              <a:rPr lang="en-US" sz="3300" b="1" spc="-67" kern="0" dirty="0">
                <a:solidFill>
                  <a:srgbClr val="F2F5FA"/>
                </a:solidFill>
                <a:latin typeface="Geist Bold" pitchFamily="34" charset="0"/>
                <a:ea typeface="Geist Bold" pitchFamily="34" charset="-122"/>
                <a:cs typeface="Geist Bold" pitchFamily="34" charset="-120"/>
              </a:rPr>
              <a:t>System Assembly — Mechanical Layout</a:t>
            </a:r>
            <a:endParaRPr lang="en-US" sz="3300" dirty="0"/>
          </a:p>
        </p:txBody>
      </p:sp>
      <p:pic>
        <p:nvPicPr>
          <p:cNvPr id="3" name="Image 0" descr="preencoded.png">    </p:cNvPr>
          <p:cNvPicPr>
            <a:picLocks noChangeAspect="1"/>
          </p:cNvPicPr>
          <p:nvPr/>
        </p:nvPicPr>
        <p:blipFill>
          <a:blip r:embed="rId1"/>
          <a:stretch>
            <a:fillRect/>
          </a:stretch>
        </p:blipFill>
        <p:spPr>
          <a:xfrm>
            <a:off x="667825" y="1702197"/>
            <a:ext cx="2062309" cy="2062361"/>
          </a:xfrm>
          <a:prstGeom prst="rect">
            <a:avLst/>
          </a:prstGeom>
        </p:spPr>
      </p:pic>
      <p:pic>
        <p:nvPicPr>
          <p:cNvPr id="4" name="Image 1" descr="preencoded.png">    </p:cNvPr>
          <p:cNvPicPr>
            <a:picLocks noChangeAspect="1"/>
          </p:cNvPicPr>
          <p:nvPr/>
        </p:nvPicPr>
        <p:blipFill>
          <a:blip r:embed="rId2"/>
          <a:stretch>
            <a:fillRect/>
          </a:stretch>
        </p:blipFill>
        <p:spPr>
          <a:xfrm>
            <a:off x="2866160" y="1702197"/>
            <a:ext cx="2062409" cy="2062460"/>
          </a:xfrm>
          <a:prstGeom prst="rect">
            <a:avLst/>
          </a:prstGeom>
        </p:spPr>
      </p:pic>
      <p:pic>
        <p:nvPicPr>
          <p:cNvPr id="5" name="Image 2" descr="preencoded.png">    </p:cNvPr>
          <p:cNvPicPr>
            <a:picLocks noChangeAspect="1"/>
          </p:cNvPicPr>
          <p:nvPr/>
        </p:nvPicPr>
        <p:blipFill>
          <a:blip r:embed="rId3"/>
          <a:stretch>
            <a:fillRect/>
          </a:stretch>
        </p:blipFill>
        <p:spPr>
          <a:xfrm>
            <a:off x="5064594" y="1702197"/>
            <a:ext cx="2062409" cy="2062460"/>
          </a:xfrm>
          <a:prstGeom prst="rect">
            <a:avLst/>
          </a:prstGeom>
        </p:spPr>
      </p:pic>
      <p:pic>
        <p:nvPicPr>
          <p:cNvPr id="6" name="Image 3" descr="preencoded.png">    </p:cNvPr>
          <p:cNvPicPr>
            <a:picLocks noChangeAspect="1"/>
          </p:cNvPicPr>
          <p:nvPr/>
        </p:nvPicPr>
        <p:blipFill>
          <a:blip r:embed="rId4"/>
          <a:stretch>
            <a:fillRect/>
          </a:stretch>
        </p:blipFill>
        <p:spPr>
          <a:xfrm>
            <a:off x="7263028" y="1702197"/>
            <a:ext cx="2062409" cy="2062460"/>
          </a:xfrm>
          <a:prstGeom prst="rect">
            <a:avLst/>
          </a:prstGeom>
        </p:spPr>
      </p:pic>
      <p:pic>
        <p:nvPicPr>
          <p:cNvPr id="7" name="Image 4" descr="preencoded.png">    </p:cNvPr>
          <p:cNvPicPr>
            <a:picLocks noChangeAspect="1"/>
          </p:cNvPicPr>
          <p:nvPr/>
        </p:nvPicPr>
        <p:blipFill>
          <a:blip r:embed="rId5"/>
          <a:stretch>
            <a:fillRect/>
          </a:stretch>
        </p:blipFill>
        <p:spPr>
          <a:xfrm>
            <a:off x="9461462" y="1702197"/>
            <a:ext cx="2062409" cy="2062460"/>
          </a:xfrm>
          <a:prstGeom prst="rect">
            <a:avLst/>
          </a:prstGeom>
        </p:spPr>
      </p:pic>
      <p:pic>
        <p:nvPicPr>
          <p:cNvPr id="8" name="Image 5" descr="preencoded.png">    </p:cNvPr>
          <p:cNvPicPr>
            <a:picLocks noChangeAspect="1"/>
          </p:cNvPicPr>
          <p:nvPr/>
        </p:nvPicPr>
        <p:blipFill>
          <a:blip r:embed="rId6"/>
          <a:stretch>
            <a:fillRect/>
          </a:stretch>
        </p:blipFill>
        <p:spPr>
          <a:xfrm>
            <a:off x="667825" y="3900686"/>
            <a:ext cx="2062309" cy="206236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541635"/>
            <a:ext cx="10868745" cy="501055"/>
          </a:xfrm>
          <a:prstGeom prst="rect">
            <a:avLst/>
          </a:prstGeom>
          <a:noFill/>
          <a:ln/>
        </p:spPr>
        <p:txBody>
          <a:bodyPr wrap="none" lIns="0" tIns="0" rIns="0" bIns="0" rtlCol="0" anchor="t"/>
          <a:lstStyle/>
          <a:p>
            <a:pPr algn="l" indent="0" marL="0">
              <a:lnSpc>
                <a:spcPct val="108000"/>
              </a:lnSpc>
              <a:buNone/>
            </a:pPr>
            <a:r>
              <a:rPr lang="en-US" sz="3000" b="1" spc="-61" kern="0" dirty="0">
                <a:solidFill>
                  <a:srgbClr val="F2F5FA"/>
                </a:solidFill>
                <a:latin typeface="Geist Bold" pitchFamily="34" charset="0"/>
                <a:ea typeface="Geist Bold" pitchFamily="34" charset="-122"/>
                <a:cs typeface="Geist Bold" pitchFamily="34" charset="-120"/>
              </a:rPr>
              <a:t>Components Used — Control &amp; Vision</a:t>
            </a:r>
            <a:endParaRPr lang="en-US" sz="3000" dirty="0"/>
          </a:p>
        </p:txBody>
      </p:sp>
      <p:pic>
        <p:nvPicPr>
          <p:cNvPr id="3" name="Image 0" descr="preencoded.png">    </p:cNvPr>
          <p:cNvPicPr>
            <a:picLocks noChangeAspect="1"/>
          </p:cNvPicPr>
          <p:nvPr/>
        </p:nvPicPr>
        <p:blipFill>
          <a:blip r:embed="rId1"/>
          <a:stretch>
            <a:fillRect/>
          </a:stretch>
        </p:blipFill>
        <p:spPr>
          <a:xfrm>
            <a:off x="661475" y="1294110"/>
            <a:ext cx="1356782" cy="1356816"/>
          </a:xfrm>
          <a:prstGeom prst="rect">
            <a:avLst/>
          </a:prstGeom>
        </p:spPr>
      </p:pic>
      <p:sp>
        <p:nvSpPr>
          <p:cNvPr id="4" name="Text 1"/>
          <p:cNvSpPr/>
          <p:nvPr/>
        </p:nvSpPr>
        <p:spPr>
          <a:xfrm>
            <a:off x="661475" y="2808089"/>
            <a:ext cx="2599268" cy="250428"/>
          </a:xfrm>
          <a:prstGeom prst="rect">
            <a:avLst/>
          </a:prstGeom>
          <a:noFill/>
          <a:ln/>
        </p:spPr>
        <p:txBody>
          <a:bodyPr wrap="none" lIns="0" tIns="0" rIns="0" bIns="0" rtlCol="0" anchor="t"/>
          <a:lstStyle/>
          <a:p>
            <a:pPr algn="l" indent="0" marL="0">
              <a:lnSpc>
                <a:spcPct val="108000"/>
              </a:lnSpc>
              <a:buNone/>
            </a:pPr>
            <a:r>
              <a:rPr lang="en-US" sz="1500" b="1" spc="-30" kern="0" dirty="0">
                <a:solidFill>
                  <a:srgbClr val="EBEDF0"/>
                </a:solidFill>
                <a:latin typeface="Geist Bold" pitchFamily="34" charset="0"/>
                <a:ea typeface="Geist Bold" pitchFamily="34" charset="-122"/>
                <a:cs typeface="Geist Bold" pitchFamily="34" charset="-120"/>
              </a:rPr>
              <a:t>ESP32 Development Board</a:t>
            </a:r>
            <a:endParaRPr lang="en-US" sz="1500" dirty="0"/>
          </a:p>
        </p:txBody>
      </p:sp>
      <p:sp>
        <p:nvSpPr>
          <p:cNvPr id="5" name="Text 2"/>
          <p:cNvSpPr/>
          <p:nvPr/>
        </p:nvSpPr>
        <p:spPr>
          <a:xfrm>
            <a:off x="661475" y="3133923"/>
            <a:ext cx="2599268" cy="545604"/>
          </a:xfrm>
          <a:prstGeom prst="rect">
            <a:avLst/>
          </a:prstGeom>
          <a:noFill/>
          <a:ln/>
        </p:spPr>
        <p:txBody>
          <a:bodyPr wrap="square" lIns="0" tIns="0" rIns="0" bIns="0" rtlCol="0" anchor="t">
            <a:normAutofit/>
          </a:bodyPr>
          <a:lstStyle/>
          <a:p>
            <a:pPr algn="l" indent="0" marL="0">
              <a:lnSpc>
                <a:spcPct val="98000"/>
              </a:lnSpc>
              <a:buNone/>
            </a:pPr>
            <a:r>
              <a:rPr lang="en-US" sz="1200" dirty="0">
                <a:solidFill>
                  <a:srgbClr val="EBEDF0"/>
                </a:solidFill>
                <a:latin typeface="Geist" pitchFamily="34" charset="0"/>
                <a:ea typeface="Geist" pitchFamily="34" charset="-122"/>
                <a:cs typeface="Geist" pitchFamily="34" charset="-120"/>
              </a:rPr>
              <a:t>Main controller — handles servo PWM generation, camera interface, and serial communication.</a:t>
            </a:r>
            <a:endParaRPr lang="en-US" sz="1200" dirty="0"/>
          </a:p>
        </p:txBody>
      </p:sp>
      <p:pic>
        <p:nvPicPr>
          <p:cNvPr id="6" name="Image 1" descr="preencoded.png">    </p:cNvPr>
          <p:cNvPicPr>
            <a:picLocks noChangeAspect="1"/>
          </p:cNvPicPr>
          <p:nvPr/>
        </p:nvPicPr>
        <p:blipFill>
          <a:blip r:embed="rId2"/>
          <a:stretch>
            <a:fillRect/>
          </a:stretch>
        </p:blipFill>
        <p:spPr>
          <a:xfrm>
            <a:off x="3417901" y="1294110"/>
            <a:ext cx="1356782" cy="1356816"/>
          </a:xfrm>
          <a:prstGeom prst="rect">
            <a:avLst/>
          </a:prstGeom>
        </p:spPr>
      </p:pic>
      <p:sp>
        <p:nvSpPr>
          <p:cNvPr id="7" name="Text 3"/>
          <p:cNvSpPr/>
          <p:nvPr/>
        </p:nvSpPr>
        <p:spPr>
          <a:xfrm>
            <a:off x="3417901" y="2808089"/>
            <a:ext cx="2599367" cy="250428"/>
          </a:xfrm>
          <a:prstGeom prst="rect">
            <a:avLst/>
          </a:prstGeom>
          <a:noFill/>
          <a:ln/>
        </p:spPr>
        <p:txBody>
          <a:bodyPr wrap="none" lIns="0" tIns="0" rIns="0" bIns="0" rtlCol="0" anchor="t"/>
          <a:lstStyle/>
          <a:p>
            <a:pPr algn="l" indent="0" marL="0">
              <a:lnSpc>
                <a:spcPct val="108000"/>
              </a:lnSpc>
              <a:buNone/>
            </a:pPr>
            <a:r>
              <a:rPr lang="en-US" sz="1500" b="1" spc="-30" kern="0" dirty="0">
                <a:solidFill>
                  <a:srgbClr val="EBEDF0"/>
                </a:solidFill>
                <a:latin typeface="Geist Bold" pitchFamily="34" charset="0"/>
                <a:ea typeface="Geist Bold" pitchFamily="34" charset="-122"/>
                <a:cs typeface="Geist Bold" pitchFamily="34" charset="-120"/>
              </a:rPr>
              <a:t>ESP32-CAM (OV2640)</a:t>
            </a:r>
            <a:endParaRPr lang="en-US" sz="1500" dirty="0"/>
          </a:p>
        </p:txBody>
      </p:sp>
      <p:sp>
        <p:nvSpPr>
          <p:cNvPr id="8" name="Text 4"/>
          <p:cNvSpPr/>
          <p:nvPr/>
        </p:nvSpPr>
        <p:spPr>
          <a:xfrm>
            <a:off x="3417901" y="3133923"/>
            <a:ext cx="2599367" cy="545604"/>
          </a:xfrm>
          <a:prstGeom prst="rect">
            <a:avLst/>
          </a:prstGeom>
          <a:noFill/>
          <a:ln/>
        </p:spPr>
        <p:txBody>
          <a:bodyPr wrap="square" lIns="0" tIns="0" rIns="0" bIns="0" rtlCol="0" anchor="t">
            <a:normAutofit/>
          </a:bodyPr>
          <a:lstStyle/>
          <a:p>
            <a:pPr algn="l" indent="0" marL="0">
              <a:lnSpc>
                <a:spcPct val="98000"/>
              </a:lnSpc>
              <a:buNone/>
            </a:pPr>
            <a:r>
              <a:rPr lang="en-US" sz="1200" dirty="0">
                <a:solidFill>
                  <a:srgbClr val="EBEDF0"/>
                </a:solidFill>
                <a:latin typeface="Geist" pitchFamily="34" charset="0"/>
                <a:ea typeface="Geist" pitchFamily="34" charset="-122"/>
                <a:cs typeface="Geist" pitchFamily="34" charset="-120"/>
              </a:rPr>
              <a:t>Vision input for object detection and live feed. Streams video for manual guidance.</a:t>
            </a:r>
            <a:endParaRPr lang="en-US" sz="1200" dirty="0"/>
          </a:p>
        </p:txBody>
      </p:sp>
      <p:pic>
        <p:nvPicPr>
          <p:cNvPr id="9" name="Image 2" descr="preencoded.png">    </p:cNvPr>
          <p:cNvPicPr>
            <a:picLocks noChangeAspect="1"/>
          </p:cNvPicPr>
          <p:nvPr/>
        </p:nvPicPr>
        <p:blipFill>
          <a:blip r:embed="rId3"/>
          <a:stretch>
            <a:fillRect/>
          </a:stretch>
        </p:blipFill>
        <p:spPr>
          <a:xfrm>
            <a:off x="6174427" y="1294110"/>
            <a:ext cx="1356782" cy="1356816"/>
          </a:xfrm>
          <a:prstGeom prst="rect">
            <a:avLst/>
          </a:prstGeom>
        </p:spPr>
      </p:pic>
      <p:sp>
        <p:nvSpPr>
          <p:cNvPr id="10" name="Text 5"/>
          <p:cNvSpPr/>
          <p:nvPr/>
        </p:nvSpPr>
        <p:spPr>
          <a:xfrm>
            <a:off x="6174427" y="2808089"/>
            <a:ext cx="2599268" cy="250428"/>
          </a:xfrm>
          <a:prstGeom prst="rect">
            <a:avLst/>
          </a:prstGeom>
          <a:noFill/>
          <a:ln/>
        </p:spPr>
        <p:txBody>
          <a:bodyPr wrap="none" lIns="0" tIns="0" rIns="0" bIns="0" rtlCol="0" anchor="t"/>
          <a:lstStyle/>
          <a:p>
            <a:pPr algn="l" indent="0" marL="0">
              <a:lnSpc>
                <a:spcPct val="108000"/>
              </a:lnSpc>
              <a:buNone/>
            </a:pPr>
            <a:r>
              <a:rPr lang="en-US" sz="1500" b="1" spc="-30" kern="0" dirty="0">
                <a:solidFill>
                  <a:srgbClr val="EBEDF0"/>
                </a:solidFill>
                <a:latin typeface="Geist Bold" pitchFamily="34" charset="0"/>
                <a:ea typeface="Geist Bold" pitchFamily="34" charset="-122"/>
                <a:cs typeface="Geist Bold" pitchFamily="34" charset="-120"/>
              </a:rPr>
              <a:t>GPIO Expansion Board</a:t>
            </a:r>
            <a:endParaRPr lang="en-US" sz="1500" dirty="0"/>
          </a:p>
        </p:txBody>
      </p:sp>
      <p:sp>
        <p:nvSpPr>
          <p:cNvPr id="11" name="Text 6"/>
          <p:cNvSpPr/>
          <p:nvPr/>
        </p:nvSpPr>
        <p:spPr>
          <a:xfrm>
            <a:off x="6174427" y="3133923"/>
            <a:ext cx="2599268" cy="545604"/>
          </a:xfrm>
          <a:prstGeom prst="rect">
            <a:avLst/>
          </a:prstGeom>
          <a:noFill/>
          <a:ln/>
        </p:spPr>
        <p:txBody>
          <a:bodyPr wrap="square" lIns="0" tIns="0" rIns="0" bIns="0" rtlCol="0" anchor="t">
            <a:normAutofit/>
          </a:bodyPr>
          <a:lstStyle/>
          <a:p>
            <a:pPr algn="l" indent="0" marL="0">
              <a:lnSpc>
                <a:spcPct val="98000"/>
              </a:lnSpc>
              <a:buNone/>
            </a:pPr>
            <a:r>
              <a:rPr lang="en-US" sz="1200" dirty="0">
                <a:solidFill>
                  <a:srgbClr val="EBEDF0"/>
                </a:solidFill>
                <a:latin typeface="Geist" pitchFamily="34" charset="0"/>
                <a:ea typeface="Geist" pitchFamily="34" charset="-122"/>
                <a:cs typeface="Geist" pitchFamily="34" charset="-120"/>
              </a:rPr>
              <a:t>Breaks out ESP32 pins for easier wiring to servos, sensors, and peripherals.</a:t>
            </a:r>
            <a:endParaRPr lang="en-US" sz="1200" dirty="0"/>
          </a:p>
        </p:txBody>
      </p:sp>
      <p:pic>
        <p:nvPicPr>
          <p:cNvPr id="12" name="Image 3" descr="preencoded.png">    </p:cNvPr>
          <p:cNvPicPr>
            <a:picLocks noChangeAspect="1"/>
          </p:cNvPicPr>
          <p:nvPr/>
        </p:nvPicPr>
        <p:blipFill>
          <a:blip r:embed="rId4"/>
          <a:stretch>
            <a:fillRect/>
          </a:stretch>
        </p:blipFill>
        <p:spPr>
          <a:xfrm>
            <a:off x="8930853" y="1294110"/>
            <a:ext cx="1356782" cy="1356816"/>
          </a:xfrm>
          <a:prstGeom prst="rect">
            <a:avLst/>
          </a:prstGeom>
        </p:spPr>
      </p:pic>
      <p:sp>
        <p:nvSpPr>
          <p:cNvPr id="13" name="Text 7"/>
          <p:cNvSpPr/>
          <p:nvPr/>
        </p:nvSpPr>
        <p:spPr>
          <a:xfrm>
            <a:off x="8930853" y="2808089"/>
            <a:ext cx="2599367" cy="250428"/>
          </a:xfrm>
          <a:prstGeom prst="rect">
            <a:avLst/>
          </a:prstGeom>
          <a:noFill/>
          <a:ln/>
        </p:spPr>
        <p:txBody>
          <a:bodyPr wrap="none" lIns="0" tIns="0" rIns="0" bIns="0" rtlCol="0" anchor="t"/>
          <a:lstStyle/>
          <a:p>
            <a:pPr algn="l" indent="0" marL="0">
              <a:lnSpc>
                <a:spcPct val="108000"/>
              </a:lnSpc>
              <a:buNone/>
            </a:pPr>
            <a:r>
              <a:rPr lang="en-US" sz="1500" b="1" spc="-30" kern="0" dirty="0">
                <a:solidFill>
                  <a:srgbClr val="EBEDF0"/>
                </a:solidFill>
                <a:latin typeface="Geist Bold" pitchFamily="34" charset="0"/>
                <a:ea typeface="Geist Bold" pitchFamily="34" charset="-122"/>
                <a:cs typeface="Geist Bold" pitchFamily="34" charset="-120"/>
              </a:rPr>
              <a:t>MG996R Servo Motor</a:t>
            </a:r>
            <a:endParaRPr lang="en-US" sz="1500" dirty="0"/>
          </a:p>
        </p:txBody>
      </p:sp>
      <p:sp>
        <p:nvSpPr>
          <p:cNvPr id="14" name="Text 8"/>
          <p:cNvSpPr/>
          <p:nvPr/>
        </p:nvSpPr>
        <p:spPr>
          <a:xfrm>
            <a:off x="8930853" y="3133923"/>
            <a:ext cx="2599367" cy="363736"/>
          </a:xfrm>
          <a:prstGeom prst="rect">
            <a:avLst/>
          </a:prstGeom>
          <a:noFill/>
          <a:ln/>
        </p:spPr>
        <p:txBody>
          <a:bodyPr wrap="square" lIns="0" tIns="0" rIns="0" bIns="0" rtlCol="0" anchor="t">
            <a:normAutofit/>
          </a:bodyPr>
          <a:lstStyle/>
          <a:p>
            <a:pPr algn="l" indent="0" marL="0">
              <a:lnSpc>
                <a:spcPct val="98000"/>
              </a:lnSpc>
              <a:buNone/>
            </a:pPr>
            <a:r>
              <a:rPr lang="en-US" sz="1200" dirty="0">
                <a:solidFill>
                  <a:srgbClr val="EBEDF0"/>
                </a:solidFill>
                <a:latin typeface="Geist" pitchFamily="34" charset="0"/>
                <a:ea typeface="Geist" pitchFamily="34" charset="-122"/>
                <a:cs typeface="Geist" pitchFamily="34" charset="-120"/>
              </a:rPr>
              <a:t>High-torque servos (9.4 kgf·cm) for the base, shoulder, and elbow joints.</a:t>
            </a:r>
            <a:endParaRPr lang="en-US" sz="1200" dirty="0"/>
          </a:p>
        </p:txBody>
      </p:sp>
      <p:pic>
        <p:nvPicPr>
          <p:cNvPr id="15" name="Image 4" descr="preencoded.png">    </p:cNvPr>
          <p:cNvPicPr>
            <a:picLocks noChangeAspect="1"/>
          </p:cNvPicPr>
          <p:nvPr/>
        </p:nvPicPr>
        <p:blipFill>
          <a:blip r:embed="rId5"/>
          <a:stretch>
            <a:fillRect/>
          </a:stretch>
        </p:blipFill>
        <p:spPr>
          <a:xfrm>
            <a:off x="661475" y="3930948"/>
            <a:ext cx="1356782" cy="1356816"/>
          </a:xfrm>
          <a:prstGeom prst="rect">
            <a:avLst/>
          </a:prstGeom>
        </p:spPr>
      </p:pic>
      <p:sp>
        <p:nvSpPr>
          <p:cNvPr id="16" name="Text 9"/>
          <p:cNvSpPr/>
          <p:nvPr/>
        </p:nvSpPr>
        <p:spPr>
          <a:xfrm>
            <a:off x="661475" y="5444927"/>
            <a:ext cx="2599268" cy="250428"/>
          </a:xfrm>
          <a:prstGeom prst="rect">
            <a:avLst/>
          </a:prstGeom>
          <a:noFill/>
          <a:ln/>
        </p:spPr>
        <p:txBody>
          <a:bodyPr wrap="none" lIns="0" tIns="0" rIns="0" bIns="0" rtlCol="0" anchor="t"/>
          <a:lstStyle/>
          <a:p>
            <a:pPr algn="l" indent="0" marL="0">
              <a:lnSpc>
                <a:spcPct val="108000"/>
              </a:lnSpc>
              <a:buNone/>
            </a:pPr>
            <a:r>
              <a:rPr lang="en-US" sz="1500" b="1" spc="-30" kern="0" dirty="0">
                <a:solidFill>
                  <a:srgbClr val="EBEDF0"/>
                </a:solidFill>
                <a:latin typeface="Geist Bold" pitchFamily="34" charset="0"/>
                <a:ea typeface="Geist Bold" pitchFamily="34" charset="-122"/>
                <a:cs typeface="Geist Bold" pitchFamily="34" charset="-120"/>
              </a:rPr>
              <a:t>SG90 Micro Servo</a:t>
            </a:r>
            <a:endParaRPr lang="en-US" sz="1500" dirty="0"/>
          </a:p>
        </p:txBody>
      </p:sp>
      <p:sp>
        <p:nvSpPr>
          <p:cNvPr id="17" name="Text 10"/>
          <p:cNvSpPr/>
          <p:nvPr/>
        </p:nvSpPr>
        <p:spPr>
          <a:xfrm>
            <a:off x="661475" y="5770761"/>
            <a:ext cx="2599268" cy="363736"/>
          </a:xfrm>
          <a:prstGeom prst="rect">
            <a:avLst/>
          </a:prstGeom>
          <a:noFill/>
          <a:ln/>
        </p:spPr>
        <p:txBody>
          <a:bodyPr wrap="square" lIns="0" tIns="0" rIns="0" bIns="0" rtlCol="0" anchor="t">
            <a:normAutofit/>
          </a:bodyPr>
          <a:lstStyle/>
          <a:p>
            <a:pPr algn="l" indent="0" marL="0">
              <a:lnSpc>
                <a:spcPct val="98000"/>
              </a:lnSpc>
              <a:buNone/>
            </a:pPr>
            <a:r>
              <a:rPr lang="en-US" sz="1200" dirty="0">
                <a:solidFill>
                  <a:srgbClr val="EBEDF0"/>
                </a:solidFill>
                <a:latin typeface="Geist" pitchFamily="34" charset="0"/>
                <a:ea typeface="Geist" pitchFamily="34" charset="-122"/>
                <a:cs typeface="Geist" pitchFamily="34" charset="-120"/>
              </a:rPr>
              <a:t>Lightweight servos for wrist rotation and gripper actuation.</a:t>
            </a:r>
            <a:endParaRPr lang="en-US" sz="1200" dirty="0"/>
          </a:p>
        </p:txBody>
      </p:sp>
      <p:pic>
        <p:nvPicPr>
          <p:cNvPr id="18" name="Image 5" descr="preencoded.png">    </p:cNvPr>
          <p:cNvPicPr>
            <a:picLocks noChangeAspect="1"/>
          </p:cNvPicPr>
          <p:nvPr/>
        </p:nvPicPr>
        <p:blipFill>
          <a:blip r:embed="rId6"/>
          <a:stretch>
            <a:fillRect/>
          </a:stretch>
        </p:blipFill>
        <p:spPr>
          <a:xfrm>
            <a:off x="3417901" y="3930948"/>
            <a:ext cx="1356782" cy="1356816"/>
          </a:xfrm>
          <a:prstGeom prst="rect">
            <a:avLst/>
          </a:prstGeom>
        </p:spPr>
      </p:pic>
      <p:sp>
        <p:nvSpPr>
          <p:cNvPr id="19" name="Text 11"/>
          <p:cNvSpPr/>
          <p:nvPr/>
        </p:nvSpPr>
        <p:spPr>
          <a:xfrm>
            <a:off x="3417901" y="5444927"/>
            <a:ext cx="2599367" cy="250428"/>
          </a:xfrm>
          <a:prstGeom prst="rect">
            <a:avLst/>
          </a:prstGeom>
          <a:noFill/>
          <a:ln/>
        </p:spPr>
        <p:txBody>
          <a:bodyPr wrap="none" lIns="0" tIns="0" rIns="0" bIns="0" rtlCol="0" anchor="t"/>
          <a:lstStyle/>
          <a:p>
            <a:pPr algn="l" indent="0" marL="0">
              <a:lnSpc>
                <a:spcPct val="108000"/>
              </a:lnSpc>
              <a:buNone/>
            </a:pPr>
            <a:r>
              <a:rPr lang="en-US" sz="1500" b="1" spc="-30" kern="0" dirty="0">
                <a:solidFill>
                  <a:srgbClr val="EBEDF0"/>
                </a:solidFill>
                <a:latin typeface="Geist Bold" pitchFamily="34" charset="0"/>
                <a:ea typeface="Geist Bold" pitchFamily="34" charset="-122"/>
                <a:cs typeface="Geist Bold" pitchFamily="34" charset="-120"/>
              </a:rPr>
              <a:t>PCA9685 Servo Driver</a:t>
            </a:r>
            <a:endParaRPr lang="en-US" sz="1500" dirty="0"/>
          </a:p>
        </p:txBody>
      </p:sp>
      <p:sp>
        <p:nvSpPr>
          <p:cNvPr id="20" name="Text 12"/>
          <p:cNvSpPr/>
          <p:nvPr/>
        </p:nvSpPr>
        <p:spPr>
          <a:xfrm>
            <a:off x="3417901" y="5770761"/>
            <a:ext cx="2599367" cy="545604"/>
          </a:xfrm>
          <a:prstGeom prst="rect">
            <a:avLst/>
          </a:prstGeom>
          <a:noFill/>
          <a:ln/>
        </p:spPr>
        <p:txBody>
          <a:bodyPr wrap="square" lIns="0" tIns="0" rIns="0" bIns="0" rtlCol="0" anchor="t">
            <a:normAutofit/>
          </a:bodyPr>
          <a:lstStyle/>
          <a:p>
            <a:pPr algn="l" indent="0" marL="0">
              <a:lnSpc>
                <a:spcPct val="98000"/>
              </a:lnSpc>
              <a:buNone/>
            </a:pPr>
            <a:r>
              <a:rPr lang="en-US" sz="1200" dirty="0">
                <a:solidFill>
                  <a:srgbClr val="EBEDF0"/>
                </a:solidFill>
                <a:latin typeface="Geist" pitchFamily="34" charset="0"/>
                <a:ea typeface="Geist" pitchFamily="34" charset="-122"/>
                <a:cs typeface="Geist" pitchFamily="34" charset="-120"/>
              </a:rPr>
              <a:t>16-channel I²C PWM driver — controls all 6 servos from the ESP32 with a single wire pair.</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733028"/>
            <a:ext cx="10868745" cy="491430"/>
          </a:xfrm>
          <a:prstGeom prst="rect">
            <a:avLst/>
          </a:prstGeom>
          <a:noFill/>
          <a:ln/>
        </p:spPr>
        <p:txBody>
          <a:bodyPr wrap="none" lIns="0" tIns="0" rIns="0" bIns="0" rtlCol="0" anchor="t"/>
          <a:lstStyle/>
          <a:p>
            <a:pPr algn="l" indent="0" marL="0">
              <a:lnSpc>
                <a:spcPct val="108000"/>
              </a:lnSpc>
              <a:buNone/>
            </a:pPr>
            <a:r>
              <a:rPr lang="en-US" sz="2950" b="1" spc="-60" kern="0" dirty="0">
                <a:solidFill>
                  <a:srgbClr val="F2F5FA"/>
                </a:solidFill>
                <a:latin typeface="Geist Bold" pitchFamily="34" charset="0"/>
                <a:ea typeface="Geist Bold" pitchFamily="34" charset="-122"/>
                <a:cs typeface="Geist Bold" pitchFamily="34" charset="-120"/>
              </a:rPr>
              <a:t>Components Used — Power &amp; Accessories</a:t>
            </a:r>
            <a:endParaRPr lang="en-US" sz="2950" dirty="0"/>
          </a:p>
        </p:txBody>
      </p:sp>
      <p:pic>
        <p:nvPicPr>
          <p:cNvPr id="3" name="Image 0" descr="preencoded.png">    </p:cNvPr>
          <p:cNvPicPr>
            <a:picLocks noChangeAspect="1"/>
          </p:cNvPicPr>
          <p:nvPr/>
        </p:nvPicPr>
        <p:blipFill>
          <a:blip r:embed="rId1"/>
          <a:stretch>
            <a:fillRect/>
          </a:stretch>
        </p:blipFill>
        <p:spPr>
          <a:xfrm>
            <a:off x="661475" y="1466354"/>
            <a:ext cx="1208057" cy="1208088"/>
          </a:xfrm>
          <a:prstGeom prst="rect">
            <a:avLst/>
          </a:prstGeom>
        </p:spPr>
      </p:pic>
      <p:sp>
        <p:nvSpPr>
          <p:cNvPr id="4" name="Text 1"/>
          <p:cNvSpPr/>
          <p:nvPr/>
        </p:nvSpPr>
        <p:spPr>
          <a:xfrm>
            <a:off x="661475" y="2825651"/>
            <a:ext cx="2603733" cy="245666"/>
          </a:xfrm>
          <a:prstGeom prst="rect">
            <a:avLst/>
          </a:prstGeom>
          <a:noFill/>
          <a:ln/>
        </p:spPr>
        <p:txBody>
          <a:bodyPr wrap="none" lIns="0" tIns="0" rIns="0" bIns="0" rtlCol="0" anchor="t"/>
          <a:lstStyle/>
          <a:p>
            <a:pPr algn="l" indent="0" marL="0">
              <a:lnSpc>
                <a:spcPct val="108000"/>
              </a:lnSpc>
              <a:buNone/>
            </a:pPr>
            <a:r>
              <a:rPr lang="en-US" sz="1450" b="1" spc="-30" kern="0" dirty="0">
                <a:solidFill>
                  <a:srgbClr val="EBEDF0"/>
                </a:solidFill>
                <a:latin typeface="Geist Bold" pitchFamily="34" charset="0"/>
                <a:ea typeface="Geist Bold" pitchFamily="34" charset="-122"/>
                <a:cs typeface="Geist Bold" pitchFamily="34" charset="-120"/>
              </a:rPr>
              <a:t>3S LiPo Battery (2200mAh)</a:t>
            </a:r>
            <a:endParaRPr lang="en-US" sz="1450" dirty="0"/>
          </a:p>
        </p:txBody>
      </p:sp>
      <p:sp>
        <p:nvSpPr>
          <p:cNvPr id="5" name="Text 2"/>
          <p:cNvSpPr/>
          <p:nvPr/>
        </p:nvSpPr>
        <p:spPr>
          <a:xfrm>
            <a:off x="661475" y="3143845"/>
            <a:ext cx="2603733" cy="530721"/>
          </a:xfrm>
          <a:prstGeom prst="rect">
            <a:avLst/>
          </a:prstGeom>
          <a:noFill/>
          <a:ln/>
        </p:spPr>
        <p:txBody>
          <a:bodyPr wrap="square" lIns="0" tIns="0" rIns="0" bIns="0" rtlCol="0" anchor="t">
            <a:normAutofit/>
          </a:bodyPr>
          <a:lstStyle/>
          <a:p>
            <a:pPr algn="l" indent="0" marL="0">
              <a:lnSpc>
                <a:spcPct val="97000"/>
              </a:lnSpc>
              <a:buNone/>
            </a:pPr>
            <a:r>
              <a:rPr lang="en-US" sz="1150" dirty="0">
                <a:solidFill>
                  <a:srgbClr val="EBEDF0"/>
                </a:solidFill>
                <a:latin typeface="Geist" pitchFamily="34" charset="0"/>
                <a:ea typeface="Geist" pitchFamily="34" charset="-122"/>
                <a:cs typeface="Geist" pitchFamily="34" charset="-120"/>
              </a:rPr>
              <a:t>11.1V main power source — delivers high current for all six servos simultaneously.</a:t>
            </a:r>
            <a:endParaRPr lang="en-US" sz="1150" dirty="0"/>
          </a:p>
        </p:txBody>
      </p:sp>
      <p:pic>
        <p:nvPicPr>
          <p:cNvPr id="6" name="Image 1" descr="preencoded.png">    </p:cNvPr>
          <p:cNvPicPr>
            <a:picLocks noChangeAspect="1"/>
          </p:cNvPicPr>
          <p:nvPr/>
        </p:nvPicPr>
        <p:blipFill>
          <a:blip r:embed="rId2"/>
          <a:stretch>
            <a:fillRect/>
          </a:stretch>
        </p:blipFill>
        <p:spPr>
          <a:xfrm>
            <a:off x="3416413" y="1466354"/>
            <a:ext cx="1208156" cy="1208187"/>
          </a:xfrm>
          <a:prstGeom prst="rect">
            <a:avLst/>
          </a:prstGeom>
        </p:spPr>
      </p:pic>
      <p:sp>
        <p:nvSpPr>
          <p:cNvPr id="7" name="Text 3"/>
          <p:cNvSpPr/>
          <p:nvPr/>
        </p:nvSpPr>
        <p:spPr>
          <a:xfrm>
            <a:off x="3416413" y="2825750"/>
            <a:ext cx="2603832" cy="245666"/>
          </a:xfrm>
          <a:prstGeom prst="rect">
            <a:avLst/>
          </a:prstGeom>
          <a:noFill/>
          <a:ln/>
        </p:spPr>
        <p:txBody>
          <a:bodyPr wrap="none" lIns="0" tIns="0" rIns="0" bIns="0" rtlCol="0" anchor="t"/>
          <a:lstStyle/>
          <a:p>
            <a:pPr algn="l" indent="0" marL="0">
              <a:lnSpc>
                <a:spcPct val="108000"/>
              </a:lnSpc>
              <a:buNone/>
            </a:pPr>
            <a:r>
              <a:rPr lang="en-US" sz="1450" b="1" spc="-30" kern="0" dirty="0">
                <a:solidFill>
                  <a:srgbClr val="EBEDF0"/>
                </a:solidFill>
                <a:latin typeface="Geist Bold" pitchFamily="34" charset="0"/>
                <a:ea typeface="Geist Bold" pitchFamily="34" charset="-122"/>
                <a:cs typeface="Geist Bold" pitchFamily="34" charset="-120"/>
              </a:rPr>
              <a:t>iMAX B6 Balance Charger</a:t>
            </a:r>
            <a:endParaRPr lang="en-US" sz="1450" dirty="0"/>
          </a:p>
        </p:txBody>
      </p:sp>
      <p:sp>
        <p:nvSpPr>
          <p:cNvPr id="8" name="Text 4"/>
          <p:cNvSpPr/>
          <p:nvPr/>
        </p:nvSpPr>
        <p:spPr>
          <a:xfrm>
            <a:off x="3416413" y="3143945"/>
            <a:ext cx="2603832" cy="530721"/>
          </a:xfrm>
          <a:prstGeom prst="rect">
            <a:avLst/>
          </a:prstGeom>
          <a:noFill/>
          <a:ln/>
        </p:spPr>
        <p:txBody>
          <a:bodyPr wrap="square" lIns="0" tIns="0" rIns="0" bIns="0" rtlCol="0" anchor="t">
            <a:normAutofit/>
          </a:bodyPr>
          <a:lstStyle/>
          <a:p>
            <a:pPr algn="l" indent="0" marL="0">
              <a:lnSpc>
                <a:spcPct val="97000"/>
              </a:lnSpc>
              <a:buNone/>
            </a:pPr>
            <a:r>
              <a:rPr lang="en-US" sz="1150" dirty="0">
                <a:solidFill>
                  <a:srgbClr val="EBEDF0"/>
                </a:solidFill>
                <a:latin typeface="Geist" pitchFamily="34" charset="0"/>
                <a:ea typeface="Geist" pitchFamily="34" charset="-122"/>
                <a:cs typeface="Geist" pitchFamily="34" charset="-120"/>
              </a:rPr>
              <a:t>Safely charges and balances the LiPo pack, protecting battery health and longevity.</a:t>
            </a:r>
            <a:endParaRPr lang="en-US" sz="1150" dirty="0"/>
          </a:p>
        </p:txBody>
      </p:sp>
      <p:pic>
        <p:nvPicPr>
          <p:cNvPr id="9" name="Image 2" descr="preencoded.png">    </p:cNvPr>
          <p:cNvPicPr>
            <a:picLocks noChangeAspect="1"/>
          </p:cNvPicPr>
          <p:nvPr/>
        </p:nvPicPr>
        <p:blipFill>
          <a:blip r:embed="rId3"/>
          <a:stretch>
            <a:fillRect/>
          </a:stretch>
        </p:blipFill>
        <p:spPr>
          <a:xfrm>
            <a:off x="6171450" y="1466354"/>
            <a:ext cx="1208057" cy="1208088"/>
          </a:xfrm>
          <a:prstGeom prst="rect">
            <a:avLst/>
          </a:prstGeom>
        </p:spPr>
      </p:pic>
      <p:sp>
        <p:nvSpPr>
          <p:cNvPr id="10" name="Text 5"/>
          <p:cNvSpPr/>
          <p:nvPr/>
        </p:nvSpPr>
        <p:spPr>
          <a:xfrm>
            <a:off x="6171450" y="2825651"/>
            <a:ext cx="2603733" cy="245666"/>
          </a:xfrm>
          <a:prstGeom prst="rect">
            <a:avLst/>
          </a:prstGeom>
          <a:noFill/>
          <a:ln/>
        </p:spPr>
        <p:txBody>
          <a:bodyPr wrap="none" lIns="0" tIns="0" rIns="0" bIns="0" rtlCol="0" anchor="t"/>
          <a:lstStyle/>
          <a:p>
            <a:pPr algn="l" indent="0" marL="0">
              <a:lnSpc>
                <a:spcPct val="108000"/>
              </a:lnSpc>
              <a:buNone/>
            </a:pPr>
            <a:r>
              <a:rPr lang="en-US" sz="1450" b="1" spc="-30" kern="0" dirty="0">
                <a:solidFill>
                  <a:srgbClr val="EBEDF0"/>
                </a:solidFill>
                <a:latin typeface="Geist Bold" pitchFamily="34" charset="0"/>
                <a:ea typeface="Geist Bold" pitchFamily="34" charset="-122"/>
                <a:cs typeface="Geist Bold" pitchFamily="34" charset="-120"/>
              </a:rPr>
              <a:t>XL4015 Buck Converter</a:t>
            </a:r>
            <a:endParaRPr lang="en-US" sz="1450" dirty="0"/>
          </a:p>
        </p:txBody>
      </p:sp>
      <p:sp>
        <p:nvSpPr>
          <p:cNvPr id="11" name="Text 6"/>
          <p:cNvSpPr/>
          <p:nvPr/>
        </p:nvSpPr>
        <p:spPr>
          <a:xfrm>
            <a:off x="6171450" y="3143845"/>
            <a:ext cx="2603733" cy="530721"/>
          </a:xfrm>
          <a:prstGeom prst="rect">
            <a:avLst/>
          </a:prstGeom>
          <a:noFill/>
          <a:ln/>
        </p:spPr>
        <p:txBody>
          <a:bodyPr wrap="square" lIns="0" tIns="0" rIns="0" bIns="0" rtlCol="0" anchor="t">
            <a:normAutofit/>
          </a:bodyPr>
          <a:lstStyle/>
          <a:p>
            <a:pPr algn="l" indent="0" marL="0">
              <a:lnSpc>
                <a:spcPct val="97000"/>
              </a:lnSpc>
              <a:buNone/>
            </a:pPr>
            <a:r>
              <a:rPr lang="en-US" sz="1150" dirty="0">
                <a:solidFill>
                  <a:srgbClr val="EBEDF0"/>
                </a:solidFill>
                <a:latin typeface="Geist" pitchFamily="34" charset="0"/>
                <a:ea typeface="Geist" pitchFamily="34" charset="-122"/>
                <a:cs typeface="Geist" pitchFamily="34" charset="-120"/>
              </a:rPr>
              <a:t>Steps down battery voltage to a stable 5V rail for the ESP32 and servo driver.</a:t>
            </a:r>
            <a:endParaRPr lang="en-US" sz="1150" dirty="0"/>
          </a:p>
        </p:txBody>
      </p:sp>
      <p:pic>
        <p:nvPicPr>
          <p:cNvPr id="12" name="Image 3" descr="preencoded.png">    </p:cNvPr>
          <p:cNvPicPr>
            <a:picLocks noChangeAspect="1"/>
          </p:cNvPicPr>
          <p:nvPr/>
        </p:nvPicPr>
        <p:blipFill>
          <a:blip r:embed="rId4"/>
          <a:stretch>
            <a:fillRect/>
          </a:stretch>
        </p:blipFill>
        <p:spPr>
          <a:xfrm>
            <a:off x="8926388" y="1466354"/>
            <a:ext cx="1208156" cy="1208187"/>
          </a:xfrm>
          <a:prstGeom prst="rect">
            <a:avLst/>
          </a:prstGeom>
        </p:spPr>
      </p:pic>
      <p:sp>
        <p:nvSpPr>
          <p:cNvPr id="13" name="Text 7"/>
          <p:cNvSpPr/>
          <p:nvPr/>
        </p:nvSpPr>
        <p:spPr>
          <a:xfrm>
            <a:off x="8926388" y="2825750"/>
            <a:ext cx="2603832" cy="245666"/>
          </a:xfrm>
          <a:prstGeom prst="rect">
            <a:avLst/>
          </a:prstGeom>
          <a:noFill/>
          <a:ln/>
        </p:spPr>
        <p:txBody>
          <a:bodyPr wrap="none" lIns="0" tIns="0" rIns="0" bIns="0" rtlCol="0" anchor="t"/>
          <a:lstStyle/>
          <a:p>
            <a:pPr algn="l" indent="0" marL="0">
              <a:lnSpc>
                <a:spcPct val="108000"/>
              </a:lnSpc>
              <a:buNone/>
            </a:pPr>
            <a:r>
              <a:rPr lang="en-US" sz="1450" b="1" spc="-30" kern="0" dirty="0">
                <a:solidFill>
                  <a:srgbClr val="EBEDF0"/>
                </a:solidFill>
                <a:latin typeface="Geist Bold" pitchFamily="34" charset="0"/>
                <a:ea typeface="Geist Bold" pitchFamily="34" charset="-122"/>
                <a:cs typeface="Geist Bold" pitchFamily="34" charset="-120"/>
              </a:rPr>
              <a:t>FTDI Programmer (USB-TTL)</a:t>
            </a:r>
            <a:endParaRPr lang="en-US" sz="1450" dirty="0"/>
          </a:p>
        </p:txBody>
      </p:sp>
      <p:sp>
        <p:nvSpPr>
          <p:cNvPr id="14" name="Text 8"/>
          <p:cNvSpPr/>
          <p:nvPr/>
        </p:nvSpPr>
        <p:spPr>
          <a:xfrm>
            <a:off x="8926388" y="3143945"/>
            <a:ext cx="2603832" cy="530721"/>
          </a:xfrm>
          <a:prstGeom prst="rect">
            <a:avLst/>
          </a:prstGeom>
          <a:noFill/>
          <a:ln/>
        </p:spPr>
        <p:txBody>
          <a:bodyPr wrap="square" lIns="0" tIns="0" rIns="0" bIns="0" rtlCol="0" anchor="t">
            <a:normAutofit/>
          </a:bodyPr>
          <a:lstStyle/>
          <a:p>
            <a:pPr algn="l" indent="0" marL="0">
              <a:lnSpc>
                <a:spcPct val="97000"/>
              </a:lnSpc>
              <a:buNone/>
            </a:pPr>
            <a:r>
              <a:rPr lang="en-US" sz="1150" dirty="0">
                <a:solidFill>
                  <a:srgbClr val="EBEDF0"/>
                </a:solidFill>
                <a:latin typeface="Geist" pitchFamily="34" charset="0"/>
                <a:ea typeface="Geist" pitchFamily="34" charset="-122"/>
                <a:cs typeface="Geist" pitchFamily="34" charset="-120"/>
              </a:rPr>
              <a:t>Flashes firmware to the ESP32 and provides serial debug output during development.</a:t>
            </a:r>
            <a:endParaRPr lang="en-US" sz="1150" dirty="0"/>
          </a:p>
        </p:txBody>
      </p:sp>
      <p:pic>
        <p:nvPicPr>
          <p:cNvPr id="15" name="Image 4" descr="preencoded.png">    </p:cNvPr>
          <p:cNvPicPr>
            <a:picLocks noChangeAspect="1"/>
          </p:cNvPicPr>
          <p:nvPr/>
        </p:nvPicPr>
        <p:blipFill>
          <a:blip r:embed="rId5"/>
          <a:stretch>
            <a:fillRect/>
          </a:stretch>
        </p:blipFill>
        <p:spPr>
          <a:xfrm>
            <a:off x="661475" y="3916561"/>
            <a:ext cx="1208057" cy="1208088"/>
          </a:xfrm>
          <a:prstGeom prst="rect">
            <a:avLst/>
          </a:prstGeom>
        </p:spPr>
      </p:pic>
      <p:sp>
        <p:nvSpPr>
          <p:cNvPr id="16" name="Text 9"/>
          <p:cNvSpPr/>
          <p:nvPr/>
        </p:nvSpPr>
        <p:spPr>
          <a:xfrm>
            <a:off x="661475" y="5275858"/>
            <a:ext cx="2603733" cy="245666"/>
          </a:xfrm>
          <a:prstGeom prst="rect">
            <a:avLst/>
          </a:prstGeom>
          <a:noFill/>
          <a:ln/>
        </p:spPr>
        <p:txBody>
          <a:bodyPr wrap="none" lIns="0" tIns="0" rIns="0" bIns="0" rtlCol="0" anchor="t"/>
          <a:lstStyle/>
          <a:p>
            <a:pPr algn="l" indent="0" marL="0">
              <a:lnSpc>
                <a:spcPct val="108000"/>
              </a:lnSpc>
              <a:buNone/>
            </a:pPr>
            <a:r>
              <a:rPr lang="en-US" sz="1450" b="1" spc="-30" kern="0" dirty="0">
                <a:solidFill>
                  <a:srgbClr val="EBEDF0"/>
                </a:solidFill>
                <a:latin typeface="Geist Bold" pitchFamily="34" charset="0"/>
                <a:ea typeface="Geist Bold" pitchFamily="34" charset="-122"/>
                <a:cs typeface="Geist Bold" pitchFamily="34" charset="-120"/>
              </a:rPr>
              <a:t>ESP32-CAM Extension Board</a:t>
            </a:r>
            <a:endParaRPr lang="en-US" sz="1450" dirty="0"/>
          </a:p>
        </p:txBody>
      </p:sp>
      <p:sp>
        <p:nvSpPr>
          <p:cNvPr id="17" name="Text 10"/>
          <p:cNvSpPr/>
          <p:nvPr/>
        </p:nvSpPr>
        <p:spPr>
          <a:xfrm>
            <a:off x="661475" y="5594052"/>
            <a:ext cx="2603733" cy="530721"/>
          </a:xfrm>
          <a:prstGeom prst="rect">
            <a:avLst/>
          </a:prstGeom>
          <a:noFill/>
          <a:ln/>
        </p:spPr>
        <p:txBody>
          <a:bodyPr wrap="square" lIns="0" tIns="0" rIns="0" bIns="0" rtlCol="0" anchor="t">
            <a:normAutofit/>
          </a:bodyPr>
          <a:lstStyle/>
          <a:p>
            <a:pPr algn="l" indent="0" marL="0">
              <a:lnSpc>
                <a:spcPct val="97000"/>
              </a:lnSpc>
              <a:buNone/>
            </a:pPr>
            <a:r>
              <a:rPr lang="en-US" sz="1150" dirty="0">
                <a:solidFill>
                  <a:srgbClr val="EBEDF0"/>
                </a:solidFill>
                <a:latin typeface="Geist" pitchFamily="34" charset="0"/>
                <a:ea typeface="Geist" pitchFamily="34" charset="-122"/>
                <a:cs typeface="Geist" pitchFamily="34" charset="-120"/>
              </a:rPr>
              <a:t>Provides accessible GPIO pins and a USB interface for the ESP32-CAM module.</a:t>
            </a:r>
            <a:endParaRPr lang="en-US" sz="1150" dirty="0"/>
          </a:p>
        </p:txBody>
      </p:sp>
      <p:pic>
        <p:nvPicPr>
          <p:cNvPr id="18" name="Image 5" descr="preencoded.png">    </p:cNvPr>
          <p:cNvPicPr>
            <a:picLocks noChangeAspect="1"/>
          </p:cNvPicPr>
          <p:nvPr/>
        </p:nvPicPr>
        <p:blipFill>
          <a:blip r:embed="rId6"/>
          <a:stretch>
            <a:fillRect/>
          </a:stretch>
        </p:blipFill>
        <p:spPr>
          <a:xfrm>
            <a:off x="3416413" y="3916561"/>
            <a:ext cx="1208156" cy="1208187"/>
          </a:xfrm>
          <a:prstGeom prst="rect">
            <a:avLst/>
          </a:prstGeom>
        </p:spPr>
      </p:pic>
      <p:sp>
        <p:nvSpPr>
          <p:cNvPr id="19" name="Text 11"/>
          <p:cNvSpPr/>
          <p:nvPr/>
        </p:nvSpPr>
        <p:spPr>
          <a:xfrm>
            <a:off x="3416413" y="5275957"/>
            <a:ext cx="2603832" cy="245666"/>
          </a:xfrm>
          <a:prstGeom prst="rect">
            <a:avLst/>
          </a:prstGeom>
          <a:noFill/>
          <a:ln/>
        </p:spPr>
        <p:txBody>
          <a:bodyPr wrap="none" lIns="0" tIns="0" rIns="0" bIns="0" rtlCol="0" anchor="t"/>
          <a:lstStyle/>
          <a:p>
            <a:pPr algn="l" indent="0" marL="0">
              <a:lnSpc>
                <a:spcPct val="108000"/>
              </a:lnSpc>
              <a:buNone/>
            </a:pPr>
            <a:r>
              <a:rPr lang="en-US" sz="1450" b="1" spc="-30" kern="0" dirty="0">
                <a:solidFill>
                  <a:srgbClr val="EBEDF0"/>
                </a:solidFill>
                <a:latin typeface="Geist Bold" pitchFamily="34" charset="0"/>
                <a:ea typeface="Geist Bold" pitchFamily="34" charset="-122"/>
                <a:cs typeface="Geist Bold" pitchFamily="34" charset="-120"/>
              </a:rPr>
              <a:t>Servo Extension Cables</a:t>
            </a:r>
            <a:endParaRPr lang="en-US" sz="1450" dirty="0"/>
          </a:p>
        </p:txBody>
      </p:sp>
      <p:sp>
        <p:nvSpPr>
          <p:cNvPr id="20" name="Text 12"/>
          <p:cNvSpPr/>
          <p:nvPr/>
        </p:nvSpPr>
        <p:spPr>
          <a:xfrm>
            <a:off x="3416413" y="5594152"/>
            <a:ext cx="2603832" cy="530721"/>
          </a:xfrm>
          <a:prstGeom prst="rect">
            <a:avLst/>
          </a:prstGeom>
          <a:noFill/>
          <a:ln/>
        </p:spPr>
        <p:txBody>
          <a:bodyPr wrap="square" lIns="0" tIns="0" rIns="0" bIns="0" rtlCol="0" anchor="t">
            <a:normAutofit/>
          </a:bodyPr>
          <a:lstStyle/>
          <a:p>
            <a:pPr algn="l" indent="0" marL="0">
              <a:lnSpc>
                <a:spcPct val="97000"/>
              </a:lnSpc>
              <a:buNone/>
            </a:pPr>
            <a:r>
              <a:rPr lang="en-US" sz="1150" dirty="0">
                <a:solidFill>
                  <a:srgbClr val="EBEDF0"/>
                </a:solidFill>
                <a:latin typeface="Geist" pitchFamily="34" charset="0"/>
                <a:ea typeface="Geist" pitchFamily="34" charset="-122"/>
                <a:cs typeface="Geist" pitchFamily="34" charset="-120"/>
              </a:rPr>
              <a:t>30 cm extensions route signals cleanly from the driver to each servo joint.</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stretch>
            <a:fillRect/>
          </a:stretch>
        </p:blipFill>
        <p:spPr>
          <a:xfrm>
            <a:off x="7391215" y="0"/>
            <a:ext cx="4800480" cy="6858000"/>
          </a:xfrm>
          <a:custGeom>
            <a:avLst/>
            <a:gdLst/>
            <a:ahLst/>
            <a:cxnLst/>
            <a:rect l="0" t="0" r="100000" b="100000"/>
            <a:pathLst>
              <a:path w="100000" h="100000">
                <a:moveTo>
                  <a:pt x="9570" y="0"/>
                </a:moveTo>
                <a:lnTo>
                  <a:pt x="100000" y="0"/>
                </a:lnTo>
                <a:lnTo>
                  <a:pt x="100000" y="100000"/>
                </a:lnTo>
                <a:lnTo>
                  <a:pt x="30760" y="100000"/>
                </a:lnTo>
                <a:lnTo>
                  <a:pt x="26370" y="95510"/>
                </a:lnTo>
                <a:lnTo>
                  <a:pt x="26370" y="95310"/>
                </a:lnTo>
                <a:lnTo>
                  <a:pt x="25490" y="94530"/>
                </a:lnTo>
                <a:lnTo>
                  <a:pt x="25490" y="94340"/>
                </a:lnTo>
                <a:lnTo>
                  <a:pt x="22660" y="91210"/>
                </a:lnTo>
                <a:lnTo>
                  <a:pt x="18360" y="85550"/>
                </a:lnTo>
                <a:lnTo>
                  <a:pt x="15140" y="80660"/>
                </a:lnTo>
                <a:lnTo>
                  <a:pt x="11910" y="75000"/>
                </a:lnTo>
                <a:lnTo>
                  <a:pt x="9280" y="69530"/>
                </a:lnTo>
                <a:lnTo>
                  <a:pt x="6840" y="63380"/>
                </a:lnTo>
                <a:lnTo>
                  <a:pt x="4790" y="56740"/>
                </a:lnTo>
                <a:lnTo>
                  <a:pt x="3320" y="50200"/>
                </a:lnTo>
                <a:lnTo>
                  <a:pt x="2440" y="44140"/>
                </a:lnTo>
                <a:lnTo>
                  <a:pt x="2050" y="39060"/>
                </a:lnTo>
                <a:lnTo>
                  <a:pt x="2050" y="30860"/>
                </a:lnTo>
                <a:lnTo>
                  <a:pt x="2540" y="25000"/>
                </a:lnTo>
                <a:lnTo>
                  <a:pt x="3320" y="19820"/>
                </a:lnTo>
                <a:lnTo>
                  <a:pt x="4880" y="12890"/>
                </a:lnTo>
                <a:lnTo>
                  <a:pt x="6930" y="6350"/>
                </a:lnTo>
                <a:close/>
              </a:path>
            </a:pathLst>
          </a:custGeom>
        </p:spPr>
      </p:pic>
      <p:sp>
        <p:nvSpPr>
          <p:cNvPr id="3" name="Text 0"/>
          <p:cNvSpPr/>
          <p:nvPr/>
        </p:nvSpPr>
        <p:spPr>
          <a:xfrm>
            <a:off x="661475" y="1584027"/>
            <a:ext cx="6296860" cy="1228527"/>
          </a:xfrm>
          <a:prstGeom prst="rect">
            <a:avLst/>
          </a:prstGeom>
          <a:noFill/>
          <a:ln/>
        </p:spPr>
        <p:txBody>
          <a:bodyPr wrap="square" lIns="0" tIns="0" rIns="0" bIns="0" rtlCol="0" anchor="t">
            <a:normAutofit/>
          </a:bodyPr>
          <a:lstStyle/>
          <a:p>
            <a:pPr algn="l" indent="0" marL="0">
              <a:lnSpc>
                <a:spcPct val="108000"/>
              </a:lnSpc>
              <a:buNone/>
            </a:pPr>
            <a:r>
              <a:rPr lang="en-US" sz="3700" b="1" spc="-74" kern="0" dirty="0">
                <a:solidFill>
                  <a:srgbClr val="F2F5FA"/>
                </a:solidFill>
                <a:latin typeface="Geist Bold" pitchFamily="34" charset="0"/>
                <a:ea typeface="Geist Bold" pitchFamily="34" charset="-122"/>
                <a:cs typeface="Geist Bold" pitchFamily="34" charset="-120"/>
              </a:rPr>
              <a:t>The Future of Care: Our Motivation</a:t>
            </a:r>
            <a:endParaRPr lang="en-US" sz="3700" dirty="0"/>
          </a:p>
        </p:txBody>
      </p:sp>
      <p:sp>
        <p:nvSpPr>
          <p:cNvPr id="4" name="Text 1"/>
          <p:cNvSpPr/>
          <p:nvPr/>
        </p:nvSpPr>
        <p:spPr>
          <a:xfrm>
            <a:off x="661475" y="3096022"/>
            <a:ext cx="6296860" cy="2177951"/>
          </a:xfrm>
          <a:prstGeom prst="rect">
            <a:avLst/>
          </a:prstGeom>
          <a:noFill/>
          <a:ln/>
        </p:spPr>
        <p:txBody>
          <a:bodyPr wrap="square" lIns="0" tIns="0" rIns="0" bIns="0" rtlCol="0" anchor="t">
            <a:normAutofit/>
          </a:bodyPr>
          <a:lstStyle/>
          <a:p>
            <a:pPr algn="l" indent="0" marL="0">
              <a:lnSpc>
                <a:spcPct val="108000"/>
              </a:lnSpc>
              <a:spcAft>
                <a:spcPts val="1650"/>
              </a:spcAft>
              <a:buNone/>
            </a:pPr>
            <a:r>
              <a:rPr lang="en-US" sz="1450" dirty="0">
                <a:solidFill>
                  <a:srgbClr val="EBEDF0"/>
                </a:solidFill>
                <a:latin typeface="Geist" pitchFamily="34" charset="0"/>
                <a:ea typeface="Geist" pitchFamily="34" charset="-122"/>
                <a:cs typeface="Geist" pitchFamily="34" charset="-120"/>
              </a:rPr>
              <a:t>The MIRAI project transcends pure engineering; it's driven by a vision to create accessible, assistive technology with genuine human impact.</a:t>
            </a:r>
            <a:endParaRPr lang="en-US" sz="1450" dirty="0"/>
          </a:p>
          <a:p>
            <a:pPr algn="l" indent="0" marL="0">
              <a:lnSpc>
                <a:spcPct val="108000"/>
              </a:lnSpc>
              <a:buNone/>
            </a:pPr>
            <a:r>
              <a:rPr lang="en-US" sz="1450" dirty="0">
                <a:solidFill>
                  <a:srgbClr val="EBEDF0"/>
                </a:solidFill>
                <a:latin typeface="Geist" pitchFamily="34" charset="0"/>
                <a:ea typeface="Geist" pitchFamily="34" charset="-122"/>
                <a:cs typeface="Geist" pitchFamily="34" charset="-120"/>
              </a:rPr>
              <a:t>We envision a future where autonomous robotic arms can support elderly individuals living alone. From fetching daily medications to providing immediate alerts to family in case of an unforeseen event or malfunction, MIRAI aims to enhance safety, independence, and peace of mind for both seniors and their loved ones. This project is about empowering lives through practical, compassionate innovation.</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2026-09-22T04:16:35Z</dcterms:created>
  <dcterms:modified xsi:type="dcterms:W3CDTF">2026-09-22T04:16:35Z</dcterms:modified>
</cp:coreProperties>
</file>